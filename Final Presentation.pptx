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5"/>
  </p:notesMasterIdLst>
  <p:handoutMasterIdLst>
    <p:handoutMasterId r:id="rId16"/>
  </p:handoutMasterIdLst>
  <p:sldIdLst>
    <p:sldId id="350" r:id="rId5"/>
    <p:sldId id="352" r:id="rId6"/>
    <p:sldId id="361" r:id="rId7"/>
    <p:sldId id="365" r:id="rId8"/>
    <p:sldId id="370" r:id="rId9"/>
    <p:sldId id="366" r:id="rId10"/>
    <p:sldId id="368" r:id="rId11"/>
    <p:sldId id="367" r:id="rId12"/>
    <p:sldId id="371" r:id="rId13"/>
    <p:sldId id="369" r:id="rId14"/>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448"/>
    <a:srgbClr val="7CA655"/>
    <a:srgbClr val="4495A2"/>
    <a:srgbClr val="3332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666" autoAdjust="0"/>
    <p:restoredTop sz="95226" autoAdjust="0"/>
  </p:normalViewPr>
  <p:slideViewPr>
    <p:cSldViewPr snapToGrid="0">
      <p:cViewPr varScale="1">
        <p:scale>
          <a:sx n="65" d="100"/>
          <a:sy n="65" d="100"/>
        </p:scale>
        <p:origin x="928" y="60"/>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99" d="100"/>
          <a:sy n="99" d="100"/>
        </p:scale>
        <p:origin x="357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5B66E5-15AA-4745-8A67-3CE257BEE3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dirty="0"/>
          </a:p>
        </p:txBody>
      </p:sp>
      <p:sp>
        <p:nvSpPr>
          <p:cNvPr id="4" name="Footer Placeholder 3">
            <a:extLst>
              <a:ext uri="{FF2B5EF4-FFF2-40B4-BE49-F238E27FC236}">
                <a16:creationId xmlns:a16="http://schemas.microsoft.com/office/drawing/2014/main" id="{AC844A45-21B3-834A-A491-E4E4B9DC11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dirty="0"/>
          </a:p>
        </p:txBody>
      </p:sp>
      <p:sp>
        <p:nvSpPr>
          <p:cNvPr id="5" name="Slide Number Placeholder 4">
            <a:extLst>
              <a:ext uri="{FF2B5EF4-FFF2-40B4-BE49-F238E27FC236}">
                <a16:creationId xmlns:a16="http://schemas.microsoft.com/office/drawing/2014/main" id="{AC039FDB-18A0-074D-8BA3-A4C3DE896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E6D13E5-4CEC-3A4A-8E5D-AFCEE7512EEC}" type="slidenum">
              <a:rPr lang="en-GB" smtClean="0"/>
              <a:t>‹#›</a:t>
            </a:fld>
            <a:endParaRPr lang="en-GB"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92F404-27E3-49BB-94D1-2D30E3280F0F}" type="datetime1">
              <a:rPr lang="en-GB" smtClean="0"/>
              <a:pPr/>
              <a:t>04/06/2026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89C7E07-3C67-C64C-8DA0-0404F6303970}" type="slidenum">
              <a:rPr lang="en-GB" noProof="0" smtClean="0"/>
              <a:t>‹#›</a:t>
            </a:fld>
            <a:endParaRPr lang="en-GB" noProof="0"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A89C7E07-3C67-C64C-8DA0-0404F6303970}" type="slidenum">
              <a:rPr lang="en-GB" smtClean="0"/>
              <a:t>1</a:t>
            </a:fld>
            <a:endParaRPr lang="en-GB" dirty="0"/>
          </a:p>
        </p:txBody>
      </p:sp>
    </p:spTree>
    <p:extLst>
      <p:ext uri="{BB962C8B-B14F-4D97-AF65-F5344CB8AC3E}">
        <p14:creationId xmlns:p14="http://schemas.microsoft.com/office/powerpoint/2010/main" val="14534424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A89C7E07-3C67-C64C-8DA0-0404F6303970}" type="slidenum">
              <a:rPr lang="en-GB" smtClean="0"/>
              <a:t>2</a:t>
            </a:fld>
            <a:endParaRPr lang="en-GB" dirty="0"/>
          </a:p>
        </p:txBody>
      </p:sp>
    </p:spTree>
    <p:extLst>
      <p:ext uri="{BB962C8B-B14F-4D97-AF65-F5344CB8AC3E}">
        <p14:creationId xmlns:p14="http://schemas.microsoft.com/office/powerpoint/2010/main" val="8699418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A89C7E07-3C67-C64C-8DA0-0404F6303970}" type="slidenum">
              <a:rPr lang="en-GB" smtClean="0"/>
              <a:t>3</a:t>
            </a:fld>
            <a:endParaRPr lang="en-GB" dirty="0"/>
          </a:p>
        </p:txBody>
      </p:sp>
    </p:spTree>
    <p:extLst>
      <p:ext uri="{BB962C8B-B14F-4D97-AF65-F5344CB8AC3E}">
        <p14:creationId xmlns:p14="http://schemas.microsoft.com/office/powerpoint/2010/main" val="1661192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A89C7E07-3C67-C64C-8DA0-0404F6303970}" type="slidenum">
              <a:rPr lang="en-GB" smtClean="0"/>
              <a:t>4</a:t>
            </a:fld>
            <a:endParaRPr lang="en-GB" dirty="0"/>
          </a:p>
        </p:txBody>
      </p:sp>
    </p:spTree>
    <p:extLst>
      <p:ext uri="{BB962C8B-B14F-4D97-AF65-F5344CB8AC3E}">
        <p14:creationId xmlns:p14="http://schemas.microsoft.com/office/powerpoint/2010/main" val="1952296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A89C7E07-3C67-C64C-8DA0-0404F6303970}" type="slidenum">
              <a:rPr lang="en-GB" smtClean="0"/>
              <a:t>5</a:t>
            </a:fld>
            <a:endParaRPr lang="en-GB" dirty="0"/>
          </a:p>
        </p:txBody>
      </p:sp>
    </p:spTree>
    <p:extLst>
      <p:ext uri="{BB962C8B-B14F-4D97-AF65-F5344CB8AC3E}">
        <p14:creationId xmlns:p14="http://schemas.microsoft.com/office/powerpoint/2010/main" val="24788985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A89C7E07-3C67-C64C-8DA0-0404F6303970}" type="slidenum">
              <a:rPr lang="en-GB" smtClean="0"/>
              <a:t>6</a:t>
            </a:fld>
            <a:endParaRPr lang="en-GB" dirty="0"/>
          </a:p>
        </p:txBody>
      </p:sp>
    </p:spTree>
    <p:extLst>
      <p:ext uri="{BB962C8B-B14F-4D97-AF65-F5344CB8AC3E}">
        <p14:creationId xmlns:p14="http://schemas.microsoft.com/office/powerpoint/2010/main" val="30962850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A89C7E07-3C67-C64C-8DA0-0404F6303970}" type="slidenum">
              <a:rPr lang="en-GB" smtClean="0"/>
              <a:t>7</a:t>
            </a:fld>
            <a:endParaRPr lang="en-GB" dirty="0"/>
          </a:p>
        </p:txBody>
      </p:sp>
    </p:spTree>
    <p:extLst>
      <p:ext uri="{BB962C8B-B14F-4D97-AF65-F5344CB8AC3E}">
        <p14:creationId xmlns:p14="http://schemas.microsoft.com/office/powerpoint/2010/main" val="12823919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A89C7E07-3C67-C64C-8DA0-0404F6303970}" type="slidenum">
              <a:rPr lang="en-GB" smtClean="0"/>
              <a:t>8</a:t>
            </a:fld>
            <a:endParaRPr lang="en-GB" dirty="0"/>
          </a:p>
        </p:txBody>
      </p:sp>
    </p:spTree>
    <p:extLst>
      <p:ext uri="{BB962C8B-B14F-4D97-AF65-F5344CB8AC3E}">
        <p14:creationId xmlns:p14="http://schemas.microsoft.com/office/powerpoint/2010/main" val="42594481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A89C7E07-3C67-C64C-8DA0-0404F6303970}" type="slidenum">
              <a:rPr lang="en-GB" smtClean="0"/>
              <a:t>9</a:t>
            </a:fld>
            <a:endParaRPr lang="en-GB" dirty="0"/>
          </a:p>
        </p:txBody>
      </p:sp>
    </p:spTree>
    <p:extLst>
      <p:ext uri="{BB962C8B-B14F-4D97-AF65-F5344CB8AC3E}">
        <p14:creationId xmlns:p14="http://schemas.microsoft.com/office/powerpoint/2010/main" val="23736700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A89C7E07-3C67-C64C-8DA0-0404F6303970}" type="slidenum">
              <a:rPr lang="en-GB" smtClean="0"/>
              <a:t>10</a:t>
            </a:fld>
            <a:endParaRPr lang="en-GB" dirty="0"/>
          </a:p>
        </p:txBody>
      </p:sp>
    </p:spTree>
    <p:extLst>
      <p:ext uri="{BB962C8B-B14F-4D97-AF65-F5344CB8AC3E}">
        <p14:creationId xmlns:p14="http://schemas.microsoft.com/office/powerpoint/2010/main" val="1735400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n-GB" noProof="0" dirty="0"/>
              <a:t>Click to edit </a:t>
            </a:r>
          </a:p>
        </p:txBody>
      </p:sp>
      <p:grpSp>
        <p:nvGrpSpPr>
          <p:cNvPr id="9" name="Group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n-GB" noProof="0" dirty="0"/>
              <a:t>Click to edit </a:t>
            </a:r>
          </a:p>
        </p:txBody>
      </p:sp>
      <p:cxnSp>
        <p:nvCxnSpPr>
          <p:cNvPr id="13" name="Straight Connector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27108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n-GB" noProof="0"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n-GB" noProof="0" dirty="0"/>
              <a:t>Click to edit </a:t>
            </a:r>
          </a:p>
        </p:txBody>
      </p:sp>
      <p:cxnSp>
        <p:nvCxnSpPr>
          <p:cNvPr id="13" name="Straight Connector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Text Placeholder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dirty="0"/>
              <a:t>Click to edit </a:t>
            </a:r>
          </a:p>
        </p:txBody>
      </p:sp>
      <p:sp>
        <p:nvSpPr>
          <p:cNvPr id="15" name="Text Placeholder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GB" noProof="0" dirty="0"/>
              <a:t>Click to edit </a:t>
            </a:r>
          </a:p>
        </p:txBody>
      </p:sp>
      <p:cxnSp>
        <p:nvCxnSpPr>
          <p:cNvPr id="16" name="Straight Connector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Text Placeholder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dirty="0"/>
              <a:t>Click to edit </a:t>
            </a:r>
          </a:p>
        </p:txBody>
      </p:sp>
      <p:sp>
        <p:nvSpPr>
          <p:cNvPr id="18" name="Text Placeholder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GB" noProof="0" dirty="0"/>
              <a:t>Click to edit</a:t>
            </a:r>
          </a:p>
        </p:txBody>
      </p:sp>
      <p:cxnSp>
        <p:nvCxnSpPr>
          <p:cNvPr id="20" name="Straight Connector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Text Placeholder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dirty="0"/>
              <a:t>Click to edit </a:t>
            </a:r>
          </a:p>
        </p:txBody>
      </p:sp>
      <p:sp>
        <p:nvSpPr>
          <p:cNvPr id="22" name="Text Placeholder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GB" noProof="0" dirty="0"/>
              <a:t>Click to edit </a:t>
            </a:r>
          </a:p>
        </p:txBody>
      </p:sp>
      <p:cxnSp>
        <p:nvCxnSpPr>
          <p:cNvPr id="23" name="Straight Connector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Text Placeholder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dirty="0"/>
              <a:t>Click to edit </a:t>
            </a:r>
          </a:p>
        </p:txBody>
      </p:sp>
      <p:sp>
        <p:nvSpPr>
          <p:cNvPr id="25" name="Text Placeholder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GB" noProof="0" dirty="0"/>
              <a:t>Click to edit </a:t>
            </a:r>
          </a:p>
        </p:txBody>
      </p:sp>
      <p:cxnSp>
        <p:nvCxnSpPr>
          <p:cNvPr id="26" name="Straight Connector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Text Placeholder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dirty="0"/>
              <a:t>Click to edit </a:t>
            </a:r>
          </a:p>
        </p:txBody>
      </p:sp>
      <p:sp>
        <p:nvSpPr>
          <p:cNvPr id="28" name="Text Placeholder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GB" noProof="0" dirty="0"/>
              <a:t>Click to edit </a:t>
            </a:r>
          </a:p>
        </p:txBody>
      </p:sp>
      <p:sp>
        <p:nvSpPr>
          <p:cNvPr id="5" name="Footer Placeholder 4">
            <a:extLst>
              <a:ext uri="{FF2B5EF4-FFF2-40B4-BE49-F238E27FC236}">
                <a16:creationId xmlns:a16="http://schemas.microsoft.com/office/drawing/2014/main" id="{FDE10C66-2FF2-41F8-98FA-BE4983369645}"/>
              </a:ext>
            </a:extLst>
          </p:cNvPr>
          <p:cNvSpPr>
            <a:spLocks noGrp="1"/>
          </p:cNvSpPr>
          <p:nvPr>
            <p:ph type="ftr" sz="quarter" idx="26"/>
          </p:nvPr>
        </p:nvSpPr>
        <p:spPr/>
        <p:txBody>
          <a:bodyPr rtlCol="0"/>
          <a:lstStyle/>
          <a:p>
            <a:pPr rtl="0"/>
            <a:r>
              <a:rPr lang="en-GB" noProof="0" dirty="0"/>
              <a:t>Annual Review</a:t>
            </a:r>
            <a:endParaRPr lang="en-GB" b="0" noProof="0" dirty="0"/>
          </a:p>
        </p:txBody>
      </p:sp>
      <p:sp>
        <p:nvSpPr>
          <p:cNvPr id="19" name="Slide Number Placeholder 18">
            <a:extLst>
              <a:ext uri="{FF2B5EF4-FFF2-40B4-BE49-F238E27FC236}">
                <a16:creationId xmlns:a16="http://schemas.microsoft.com/office/drawing/2014/main" id="{1851A3FD-B717-4588-9809-4FFAC5FF47A1}"/>
              </a:ext>
            </a:extLst>
          </p:cNvPr>
          <p:cNvSpPr>
            <a:spLocks noGrp="1"/>
          </p:cNvSpPr>
          <p:nvPr>
            <p:ph type="sldNum" sz="quarter" idx="27"/>
          </p:nvPr>
        </p:nvSpPr>
        <p:spPr/>
        <p:txBody>
          <a:bodyPr rtlCol="0"/>
          <a:lstStyle/>
          <a:p>
            <a:pPr rtl="0"/>
            <a:fld id="{294A09A9-5501-47C1-A89A-A340965A2BE2}" type="slidenum">
              <a:rPr lang="en-GB" noProof="0" smtClean="0"/>
              <a:pPr/>
              <a:t>‹#›</a:t>
            </a:fld>
            <a:endParaRPr lang="en-GB" noProof="0" dirty="0"/>
          </a:p>
        </p:txBody>
      </p:sp>
    </p:spTree>
    <p:extLst>
      <p:ext uri="{BB962C8B-B14F-4D97-AF65-F5344CB8AC3E}">
        <p14:creationId xmlns:p14="http://schemas.microsoft.com/office/powerpoint/2010/main" val="4093066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reeform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16" name="Freeform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19" name="Freeform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
        <p:nvSpPr>
          <p:cNvPr id="14" name="Picture Placeholder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endParaRPr lang="en-GB" noProof="0" dirty="0"/>
          </a:p>
        </p:txBody>
      </p:sp>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GB" noProof="0" dirty="0"/>
              <a:t>Click to edit </a:t>
            </a:r>
          </a:p>
        </p:txBody>
      </p:sp>
      <p:cxnSp>
        <p:nvCxnSpPr>
          <p:cNvPr id="17" name="Straight Connector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n-GB" noProof="0" dirty="0"/>
              <a:t>Click to edit </a:t>
            </a:r>
          </a:p>
        </p:txBody>
      </p:sp>
      <p:sp>
        <p:nvSpPr>
          <p:cNvPr id="4" name="Footer Placeholder 3">
            <a:extLst>
              <a:ext uri="{FF2B5EF4-FFF2-40B4-BE49-F238E27FC236}">
                <a16:creationId xmlns:a16="http://schemas.microsoft.com/office/drawing/2014/main" id="{DB285929-1018-4370-A170-074C414B2281}"/>
              </a:ext>
            </a:extLst>
          </p:cNvPr>
          <p:cNvSpPr>
            <a:spLocks noGrp="1"/>
          </p:cNvSpPr>
          <p:nvPr>
            <p:ph type="ftr" sz="quarter" idx="15"/>
          </p:nvPr>
        </p:nvSpPr>
        <p:spPr/>
        <p:txBody>
          <a:bodyPr rtlCol="0"/>
          <a:lstStyle/>
          <a:p>
            <a:pPr rtl="0"/>
            <a:r>
              <a:rPr lang="en-GB" noProof="0" dirty="0"/>
              <a:t>Annual Review</a:t>
            </a:r>
            <a:endParaRPr lang="en-GB" b="0" noProof="0" dirty="0"/>
          </a:p>
        </p:txBody>
      </p:sp>
      <p:sp>
        <p:nvSpPr>
          <p:cNvPr id="5" name="Slide Number Placeholder 4">
            <a:extLst>
              <a:ext uri="{FF2B5EF4-FFF2-40B4-BE49-F238E27FC236}">
                <a16:creationId xmlns:a16="http://schemas.microsoft.com/office/drawing/2014/main" id="{6184536E-AD08-4371-85E9-A816C30B6AE7}"/>
              </a:ext>
            </a:extLst>
          </p:cNvPr>
          <p:cNvSpPr>
            <a:spLocks noGrp="1"/>
          </p:cNvSpPr>
          <p:nvPr>
            <p:ph type="sldNum" sz="quarter" idx="16"/>
          </p:nvPr>
        </p:nvSpPr>
        <p:spPr/>
        <p:txBody>
          <a:bodyPr rtlCol="0"/>
          <a:lstStyle/>
          <a:p>
            <a:pPr rtl="0"/>
            <a:fld id="{294A09A9-5501-47C1-A89A-A340965A2BE2}" type="slidenum">
              <a:rPr lang="en-GB" noProof="0" smtClean="0"/>
              <a:pPr/>
              <a:t>‹#›</a:t>
            </a:fld>
            <a:endParaRPr lang="en-GB" noProof="0" dirty="0"/>
          </a:p>
        </p:txBody>
      </p:sp>
    </p:spTree>
    <p:extLst>
      <p:ext uri="{BB962C8B-B14F-4D97-AF65-F5344CB8AC3E}">
        <p14:creationId xmlns:p14="http://schemas.microsoft.com/office/powerpoint/2010/main" val="3073769527"/>
      </p:ext>
    </p:extLst>
  </p:cSld>
  <p:clrMapOvr>
    <a:masterClrMapping/>
  </p:clrMapOvr>
  <p:extLst>
    <p:ext uri="{DCECCB84-F9BA-43D5-87BE-67443E8EF086}">
      <p15:sldGuideLst xmlns:p15="http://schemas.microsoft.com/office/powerpoint/2012/main">
        <p15:guide id="1" pos="600">
          <p15:clr>
            <a:srgbClr val="FBAE40"/>
          </p15:clr>
        </p15:guide>
        <p15:guide id="6" pos="3480" userDrawn="1">
          <p15:clr>
            <a:srgbClr val="FBAE40"/>
          </p15:clr>
        </p15:guide>
        <p15:guide id="7" orient="horz" pos="1440" userDrawn="1">
          <p15:clr>
            <a:srgbClr val="FBAE40"/>
          </p15:clr>
        </p15:guide>
        <p15:guide id="9" orient="horz" pos="1224" userDrawn="1">
          <p15:clr>
            <a:srgbClr val="FBAE40"/>
          </p15:clr>
        </p15:guide>
        <p15:guide id="10" orient="horz" pos="55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reak">
    <p:bg>
      <p:bgPr>
        <a:solidFill>
          <a:schemeClr val="tx1"/>
        </a:solidFill>
        <a:effectLst/>
      </p:bgPr>
    </p:bg>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endParaRPr lang="en-GB" noProof="0"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n-GB" noProof="0" dirty="0"/>
              <a:t>Click to edit </a:t>
            </a:r>
          </a:p>
        </p:txBody>
      </p:sp>
      <p:cxnSp>
        <p:nvCxnSpPr>
          <p:cNvPr id="20" name="Straight Connector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oup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reeform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4" name="Freeform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5" name="Freeform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Tree>
    <p:extLst>
      <p:ext uri="{BB962C8B-B14F-4D97-AF65-F5344CB8AC3E}">
        <p14:creationId xmlns:p14="http://schemas.microsoft.com/office/powerpoint/2010/main" val="2357889184"/>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tx1"/>
        </a:solidFill>
        <a:effectLst/>
      </p:bgPr>
    </p:bg>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defRPr>
            </a:lvl1pPr>
          </a:lstStyle>
          <a:p>
            <a:pPr rtl="0"/>
            <a:endParaRPr lang="en-GB" noProof="0" dirty="0"/>
          </a:p>
        </p:txBody>
      </p:sp>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a:t>
            </a:r>
          </a:p>
        </p:txBody>
      </p:sp>
      <p:sp>
        <p:nvSpPr>
          <p:cNvPr id="4" name="Footer Placeholder 3">
            <a:extLst>
              <a:ext uri="{FF2B5EF4-FFF2-40B4-BE49-F238E27FC236}">
                <a16:creationId xmlns:a16="http://schemas.microsoft.com/office/drawing/2014/main" id="{D1578EA5-216B-41F7-80D1-9ED07FFDB66F}"/>
              </a:ext>
            </a:extLst>
          </p:cNvPr>
          <p:cNvSpPr>
            <a:spLocks noGrp="1"/>
          </p:cNvSpPr>
          <p:nvPr>
            <p:ph type="ftr" sz="quarter" idx="12"/>
          </p:nvPr>
        </p:nvSpPr>
        <p:spPr/>
        <p:txBody>
          <a:bodyPr rtlCol="0"/>
          <a:lstStyle/>
          <a:p>
            <a:pPr rtl="0"/>
            <a:r>
              <a:rPr lang="en-GB" noProof="0" dirty="0"/>
              <a:t>Annual Review</a:t>
            </a:r>
            <a:endParaRPr lang="en-GB" b="0" noProof="0" dirty="0"/>
          </a:p>
        </p:txBody>
      </p:sp>
      <p:sp>
        <p:nvSpPr>
          <p:cNvPr id="5" name="Slide Number Placeholder 4">
            <a:extLst>
              <a:ext uri="{FF2B5EF4-FFF2-40B4-BE49-F238E27FC236}">
                <a16:creationId xmlns:a16="http://schemas.microsoft.com/office/drawing/2014/main" id="{C772CC63-C628-4456-9B92-DA4E670BAC0D}"/>
              </a:ext>
            </a:extLst>
          </p:cNvPr>
          <p:cNvSpPr>
            <a:spLocks noGrp="1"/>
          </p:cNvSpPr>
          <p:nvPr>
            <p:ph type="sldNum" sz="quarter" idx="13"/>
          </p:nvPr>
        </p:nvSpPr>
        <p:spPr/>
        <p:txBody>
          <a:bodyPr rtlCol="0"/>
          <a:lstStyle/>
          <a:p>
            <a:pPr rtl="0"/>
            <a:fld id="{294A09A9-5501-47C1-A89A-A340965A2BE2}" type="slidenum">
              <a:rPr lang="en-GB" noProof="0" smtClean="0"/>
              <a:pPr/>
              <a:t>‹#›</a:t>
            </a:fld>
            <a:endParaRPr lang="en-GB" noProof="0" dirty="0">
              <a:latin typeface="+mn-lt"/>
            </a:endParaRPr>
          </a:p>
        </p:txBody>
      </p:sp>
    </p:spTree>
    <p:extLst>
      <p:ext uri="{BB962C8B-B14F-4D97-AF65-F5344CB8AC3E}">
        <p14:creationId xmlns:p14="http://schemas.microsoft.com/office/powerpoint/2010/main" val="2065862895"/>
      </p:ext>
    </p:extLst>
  </p:cSld>
  <p:clrMapOvr>
    <a:masterClrMapping/>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1392" userDrawn="1">
          <p15:clr>
            <a:srgbClr val="FBAE40"/>
          </p15:clr>
        </p15:guide>
        <p15:guide id="10" orient="horz" pos="5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endParaRPr lang="en-GB" noProof="0" dirty="0"/>
          </a:p>
        </p:txBody>
      </p:sp>
      <p:sp>
        <p:nvSpPr>
          <p:cNvPr id="4" name="Footer Placeholder 3">
            <a:extLst>
              <a:ext uri="{FF2B5EF4-FFF2-40B4-BE49-F238E27FC236}">
                <a16:creationId xmlns:a16="http://schemas.microsoft.com/office/drawing/2014/main" id="{DB42D896-6ACC-40D7-8D8B-F9AF3E7DE1A1}"/>
              </a:ext>
            </a:extLst>
          </p:cNvPr>
          <p:cNvSpPr>
            <a:spLocks noGrp="1"/>
          </p:cNvSpPr>
          <p:nvPr>
            <p:ph type="ftr" sz="quarter" idx="12"/>
          </p:nvPr>
        </p:nvSpPr>
        <p:spPr/>
        <p:txBody>
          <a:bodyPr rtlCol="0"/>
          <a:lstStyle/>
          <a:p>
            <a:pPr rtl="0"/>
            <a:r>
              <a:rPr lang="en-GB" noProof="0" dirty="0"/>
              <a:t>Annual Review</a:t>
            </a:r>
            <a:endParaRPr lang="en-GB" b="0" noProof="0" dirty="0"/>
          </a:p>
        </p:txBody>
      </p:sp>
      <p:sp>
        <p:nvSpPr>
          <p:cNvPr id="5" name="Slide Number Placeholder 4">
            <a:extLst>
              <a:ext uri="{FF2B5EF4-FFF2-40B4-BE49-F238E27FC236}">
                <a16:creationId xmlns:a16="http://schemas.microsoft.com/office/drawing/2014/main" id="{E69F7A1E-B7E2-4E9C-A66C-BCE08900C5F1}"/>
              </a:ext>
            </a:extLst>
          </p:cNvPr>
          <p:cNvSpPr>
            <a:spLocks noGrp="1"/>
          </p:cNvSpPr>
          <p:nvPr>
            <p:ph type="sldNum" sz="quarter" idx="13"/>
          </p:nvPr>
        </p:nvSpPr>
        <p:spPr/>
        <p:txBody>
          <a:bodyPr rtlCol="0"/>
          <a:lstStyle/>
          <a:p>
            <a:pPr rtl="0"/>
            <a:fld id="{294A09A9-5501-47C1-A89A-A340965A2BE2}" type="slidenum">
              <a:rPr lang="en-GB" noProof="0" smtClean="0"/>
              <a:pPr/>
              <a:t>‹#›</a:t>
            </a:fld>
            <a:endParaRPr lang="en-GB" noProof="0" dirty="0">
              <a:latin typeface="+mn-lt"/>
            </a:endParaRPr>
          </a:p>
        </p:txBody>
      </p:sp>
    </p:spTree>
    <p:extLst>
      <p:ext uri="{BB962C8B-B14F-4D97-AF65-F5344CB8AC3E}">
        <p14:creationId xmlns:p14="http://schemas.microsoft.com/office/powerpoint/2010/main" val="340131073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n-GB" noProof="0" dirty="0"/>
              <a:t>Click to edit</a:t>
            </a:r>
          </a:p>
        </p:txBody>
      </p:sp>
      <p:sp>
        <p:nvSpPr>
          <p:cNvPr id="10" name="TextBox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rtl="0"/>
            <a:r>
              <a:rPr lang="en-GB" sz="20000" b="1" noProof="0" dirty="0">
                <a:solidFill>
                  <a:schemeClr val="bg1"/>
                </a:solidFill>
              </a:rPr>
              <a:t>“</a:t>
            </a:r>
          </a:p>
        </p:txBody>
      </p:sp>
      <p:grpSp>
        <p:nvGrpSpPr>
          <p:cNvPr id="18" name="Group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Shape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0" name="Freeform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1" name="Freeform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2" name="Freeform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n-GB" noProof="0" dirty="0"/>
            </a:p>
          </p:txBody>
        </p:sp>
        <p:sp>
          <p:nvSpPr>
            <p:cNvPr id="23" name="Freeform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grpSp>
        <p:nvGrpSpPr>
          <p:cNvPr id="24" name="Group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reeform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6" name="Freeform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7" name="Freeform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Tree>
    <p:extLst>
      <p:ext uri="{BB962C8B-B14F-4D97-AF65-F5344CB8AC3E}">
        <p14:creationId xmlns:p14="http://schemas.microsoft.com/office/powerpoint/2010/main" val="1447829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560">
          <p15:clr>
            <a:srgbClr val="FBAE40"/>
          </p15:clr>
        </p15:guide>
        <p15:guide id="8" orient="horz" pos="1752" userDrawn="1">
          <p15:clr>
            <a:srgbClr val="FBAE40"/>
          </p15:clr>
        </p15:guide>
        <p15:guide id="9" orient="horz" pos="124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bg>
      <p:bgPr>
        <a:solidFill>
          <a:schemeClr val="tx1"/>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reeform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7" name="Freeform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36" name="Freeform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
        <p:nvSpPr>
          <p:cNvPr id="38" name="Picture Placeholder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n-GB" noProof="0" dirty="0"/>
              <a:t>Click icon to add picture</a:t>
            </a:r>
          </a:p>
        </p:txBody>
      </p:sp>
      <p:sp>
        <p:nvSpPr>
          <p:cNvPr id="61" name="Title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dirty="0"/>
              <a:t>Click to edit </a:t>
            </a:r>
          </a:p>
        </p:txBody>
      </p:sp>
      <p:cxnSp>
        <p:nvCxnSpPr>
          <p:cNvPr id="62" name="Straight Connector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Picture Placeholder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n-GB" noProof="0" dirty="0"/>
              <a:t>Click icon to add picture</a:t>
            </a:r>
          </a:p>
        </p:txBody>
      </p:sp>
      <p:sp>
        <p:nvSpPr>
          <p:cNvPr id="72" name="Text Placeholder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dirty="0"/>
              <a:t>Click to edit </a:t>
            </a:r>
          </a:p>
        </p:txBody>
      </p:sp>
      <p:sp>
        <p:nvSpPr>
          <p:cNvPr id="73" name="Text Placeholder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dirty="0"/>
              <a:t>Click to edit </a:t>
            </a:r>
          </a:p>
        </p:txBody>
      </p:sp>
      <p:sp>
        <p:nvSpPr>
          <p:cNvPr id="74" name="Text Placeholder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dirty="0"/>
              <a:t>Click to edit </a:t>
            </a:r>
          </a:p>
        </p:txBody>
      </p:sp>
      <p:sp>
        <p:nvSpPr>
          <p:cNvPr id="75" name="Text Placeholder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dirty="0"/>
              <a:t>Click to edit </a:t>
            </a:r>
          </a:p>
        </p:txBody>
      </p:sp>
      <p:sp>
        <p:nvSpPr>
          <p:cNvPr id="76" name="Text Placeholder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dirty="0"/>
              <a:t>Click to edit </a:t>
            </a:r>
          </a:p>
        </p:txBody>
      </p:sp>
      <p:sp>
        <p:nvSpPr>
          <p:cNvPr id="77" name="Text Placeholder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dirty="0"/>
              <a:t>Click to edit </a:t>
            </a:r>
          </a:p>
        </p:txBody>
      </p:sp>
      <p:sp>
        <p:nvSpPr>
          <p:cNvPr id="78" name="Text Placeholder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dirty="0"/>
              <a:t>Click to edit </a:t>
            </a:r>
          </a:p>
        </p:txBody>
      </p:sp>
      <p:sp>
        <p:nvSpPr>
          <p:cNvPr id="79" name="Text Placeholder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dirty="0"/>
              <a:t>Click to edit </a:t>
            </a:r>
          </a:p>
        </p:txBody>
      </p:sp>
      <p:grpSp>
        <p:nvGrpSpPr>
          <p:cNvPr id="23" name="Group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Shape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9" name="Freeform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30" name="Freeform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31" name="Freeform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n-GB" noProof="0" dirty="0"/>
            </a:p>
          </p:txBody>
        </p:sp>
        <p:sp>
          <p:nvSpPr>
            <p:cNvPr id="32" name="Freeform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
        <p:nvSpPr>
          <p:cNvPr id="66" name="Picture Placeholder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n-GB" noProof="0" dirty="0"/>
              <a:t>Click icon to add picture</a:t>
            </a:r>
          </a:p>
        </p:txBody>
      </p:sp>
      <p:sp>
        <p:nvSpPr>
          <p:cNvPr id="69" name="Picture Placeholder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n-GB" noProof="0" dirty="0"/>
              <a:t>Click icon to add picture</a:t>
            </a:r>
          </a:p>
        </p:txBody>
      </p:sp>
      <p:sp>
        <p:nvSpPr>
          <p:cNvPr id="4" name="Footer Placeholder 3">
            <a:extLst>
              <a:ext uri="{FF2B5EF4-FFF2-40B4-BE49-F238E27FC236}">
                <a16:creationId xmlns:a16="http://schemas.microsoft.com/office/drawing/2014/main" id="{7DE0184F-2619-4333-B49F-C7ACE8B2C3A6}"/>
              </a:ext>
            </a:extLst>
          </p:cNvPr>
          <p:cNvSpPr>
            <a:spLocks noGrp="1"/>
          </p:cNvSpPr>
          <p:nvPr>
            <p:ph type="ftr" sz="quarter" idx="33"/>
          </p:nvPr>
        </p:nvSpPr>
        <p:spPr/>
        <p:txBody>
          <a:bodyPr rtlCol="0"/>
          <a:lstStyle/>
          <a:p>
            <a:pPr rtl="0"/>
            <a:r>
              <a:rPr lang="en-GB" noProof="0" dirty="0"/>
              <a:t>Annual Review</a:t>
            </a:r>
            <a:endParaRPr lang="en-GB" b="0" noProof="0" dirty="0"/>
          </a:p>
        </p:txBody>
      </p:sp>
      <p:sp>
        <p:nvSpPr>
          <p:cNvPr id="5" name="Slide Number Placeholder 4">
            <a:extLst>
              <a:ext uri="{FF2B5EF4-FFF2-40B4-BE49-F238E27FC236}">
                <a16:creationId xmlns:a16="http://schemas.microsoft.com/office/drawing/2014/main" id="{705A1C65-B00C-4CA4-83B6-3DFA3DF96296}"/>
              </a:ext>
            </a:extLst>
          </p:cNvPr>
          <p:cNvSpPr>
            <a:spLocks noGrp="1"/>
          </p:cNvSpPr>
          <p:nvPr>
            <p:ph type="sldNum" sz="quarter" idx="34"/>
          </p:nvPr>
        </p:nvSpPr>
        <p:spPr/>
        <p:txBody>
          <a:bodyPr rtlCol="0"/>
          <a:lstStyle/>
          <a:p>
            <a:pPr rtl="0"/>
            <a:fld id="{294A09A9-5501-47C1-A89A-A340965A2BE2}" type="slidenum">
              <a:rPr lang="en-GB" noProof="0" smtClean="0"/>
              <a:pPr/>
              <a:t>‹#›</a:t>
            </a:fld>
            <a:endParaRPr lang="en-GB" noProof="0" dirty="0"/>
          </a:p>
        </p:txBody>
      </p:sp>
    </p:spTree>
    <p:extLst>
      <p:ext uri="{BB962C8B-B14F-4D97-AF65-F5344CB8AC3E}">
        <p14:creationId xmlns:p14="http://schemas.microsoft.com/office/powerpoint/2010/main" val="9963624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304" userDrawn="1">
          <p15:clr>
            <a:srgbClr val="FBAE40"/>
          </p15:clr>
        </p15:guide>
        <p15:guide id="4" pos="4008" userDrawn="1">
          <p15:clr>
            <a:srgbClr val="FBAE40"/>
          </p15:clr>
        </p15:guide>
        <p15:guide id="5" pos="1944" userDrawn="1">
          <p15:clr>
            <a:srgbClr val="FBAE40"/>
          </p15:clr>
        </p15:guide>
        <p15:guide id="6" pos="3648" userDrawn="1">
          <p15:clr>
            <a:srgbClr val="FBAE40"/>
          </p15:clr>
        </p15:guide>
        <p15:guide id="7" orient="horz" pos="1392" userDrawn="1">
          <p15:clr>
            <a:srgbClr val="FBAE40"/>
          </p15:clr>
        </p15:guide>
        <p15:guide id="8" orient="horz" pos="552" userDrawn="1">
          <p15:clr>
            <a:srgbClr val="FBAE40"/>
          </p15:clr>
        </p15:guide>
        <p15:guide id="9" orient="horz" pos="1224" userDrawn="1">
          <p15:clr>
            <a:srgbClr val="FBAE40"/>
          </p15:clr>
        </p15:guide>
        <p15:guide id="10" pos="5352" userDrawn="1">
          <p15:clr>
            <a:srgbClr val="FBAE40"/>
          </p15:clr>
        </p15:guide>
        <p15:guide id="11" pos="5736" userDrawn="1">
          <p15:clr>
            <a:srgbClr val="FBAE40"/>
          </p15:clr>
        </p15:guide>
        <p15:guide id="12" orient="horz" pos="2904" userDrawn="1">
          <p15:clr>
            <a:srgbClr val="FBAE40"/>
          </p15:clr>
        </p15:guide>
        <p15:guide id="13" orient="horz" pos="160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 ">
    <p:bg>
      <p:bgPr>
        <a:solidFill>
          <a:schemeClr val="tx1"/>
        </a:solidFill>
        <a:effectLst/>
      </p:bgPr>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6EEE005-F78A-9D4F-B159-964376C387DD}"/>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GB" noProof="0"/>
              <a:t>Click to edit </a:t>
            </a:r>
          </a:p>
        </p:txBody>
      </p:sp>
      <p:sp>
        <p:nvSpPr>
          <p:cNvPr id="96" name="Text Placeholder 29">
            <a:extLst>
              <a:ext uri="{FF2B5EF4-FFF2-40B4-BE49-F238E27FC236}">
                <a16:creationId xmlns:a16="http://schemas.microsoft.com/office/drawing/2014/main" id="{FC61536F-8EA7-5A48-AF76-8B0E251BD8CB}"/>
              </a:ext>
            </a:extLst>
          </p:cNvPr>
          <p:cNvSpPr>
            <a:spLocks noGrp="1"/>
          </p:cNvSpPr>
          <p:nvPr>
            <p:ph type="body" sz="quarter" idx="12"/>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a:t>
            </a:r>
          </a:p>
        </p:txBody>
      </p:sp>
      <p:sp>
        <p:nvSpPr>
          <p:cNvPr id="97" name="Text Placeholder 29">
            <a:extLst>
              <a:ext uri="{FF2B5EF4-FFF2-40B4-BE49-F238E27FC236}">
                <a16:creationId xmlns:a16="http://schemas.microsoft.com/office/drawing/2014/main" id="{64FFD994-BD97-ED49-8607-286ECBB1CDA3}"/>
              </a:ext>
            </a:extLst>
          </p:cNvPr>
          <p:cNvSpPr>
            <a:spLocks noGrp="1"/>
          </p:cNvSpPr>
          <p:nvPr>
            <p:ph type="body" sz="quarter" idx="1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a:t>
            </a:r>
          </a:p>
        </p:txBody>
      </p:sp>
      <p:sp>
        <p:nvSpPr>
          <p:cNvPr id="102" name="Text Placeholder 29">
            <a:extLst>
              <a:ext uri="{FF2B5EF4-FFF2-40B4-BE49-F238E27FC236}">
                <a16:creationId xmlns:a16="http://schemas.microsoft.com/office/drawing/2014/main" id="{D1ADE805-BFBC-ED47-B9CB-6CB2FF02E868}"/>
              </a:ext>
            </a:extLst>
          </p:cNvPr>
          <p:cNvSpPr>
            <a:spLocks noGrp="1"/>
          </p:cNvSpPr>
          <p:nvPr>
            <p:ph type="body" sz="quarter" idx="30"/>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a:t>
            </a:r>
          </a:p>
        </p:txBody>
      </p:sp>
      <p:sp>
        <p:nvSpPr>
          <p:cNvPr id="103" name="Text Placeholder 29">
            <a:extLst>
              <a:ext uri="{FF2B5EF4-FFF2-40B4-BE49-F238E27FC236}">
                <a16:creationId xmlns:a16="http://schemas.microsoft.com/office/drawing/2014/main" id="{334A3589-641F-F547-891B-149579153B75}"/>
              </a:ext>
            </a:extLst>
          </p:cNvPr>
          <p:cNvSpPr>
            <a:spLocks noGrp="1"/>
          </p:cNvSpPr>
          <p:nvPr>
            <p:ph type="body" sz="quarter" idx="3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n-GB" noProof="0"/>
              <a:t>Click to edit </a:t>
            </a:r>
          </a:p>
        </p:txBody>
      </p:sp>
      <p:sp>
        <p:nvSpPr>
          <p:cNvPr id="106" name="Text Placeholder 29">
            <a:extLst>
              <a:ext uri="{FF2B5EF4-FFF2-40B4-BE49-F238E27FC236}">
                <a16:creationId xmlns:a16="http://schemas.microsoft.com/office/drawing/2014/main" id="{A63F8454-D12E-A641-ABD0-8977D3F5EC05}"/>
              </a:ext>
            </a:extLst>
          </p:cNvPr>
          <p:cNvSpPr>
            <a:spLocks noGrp="1"/>
          </p:cNvSpPr>
          <p:nvPr>
            <p:ph type="body" sz="quarter" idx="32"/>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a:t>
            </a:r>
          </a:p>
        </p:txBody>
      </p:sp>
      <p:sp>
        <p:nvSpPr>
          <p:cNvPr id="107" name="Text Placeholder 29">
            <a:extLst>
              <a:ext uri="{FF2B5EF4-FFF2-40B4-BE49-F238E27FC236}">
                <a16:creationId xmlns:a16="http://schemas.microsoft.com/office/drawing/2014/main" id="{F35AA15D-DBAD-9840-8764-A5B6D486A234}"/>
              </a:ext>
            </a:extLst>
          </p:cNvPr>
          <p:cNvSpPr>
            <a:spLocks noGrp="1"/>
          </p:cNvSpPr>
          <p:nvPr>
            <p:ph type="body" sz="quarter" idx="33"/>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n-GB" noProof="0"/>
              <a:t>Click to edit </a:t>
            </a:r>
          </a:p>
        </p:txBody>
      </p:sp>
      <p:sp>
        <p:nvSpPr>
          <p:cNvPr id="108" name="Text Placeholder 29">
            <a:extLst>
              <a:ext uri="{FF2B5EF4-FFF2-40B4-BE49-F238E27FC236}">
                <a16:creationId xmlns:a16="http://schemas.microsoft.com/office/drawing/2014/main" id="{8357CA0F-1A55-B145-8305-562F0DF22543}"/>
              </a:ext>
            </a:extLst>
          </p:cNvPr>
          <p:cNvSpPr>
            <a:spLocks noGrp="1"/>
          </p:cNvSpPr>
          <p:nvPr>
            <p:ph type="body" sz="quarter" idx="34"/>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GB" noProof="0"/>
              <a:t>Click to edit </a:t>
            </a:r>
          </a:p>
        </p:txBody>
      </p:sp>
      <p:sp>
        <p:nvSpPr>
          <p:cNvPr id="109" name="Text Placeholder 29">
            <a:extLst>
              <a:ext uri="{FF2B5EF4-FFF2-40B4-BE49-F238E27FC236}">
                <a16:creationId xmlns:a16="http://schemas.microsoft.com/office/drawing/2014/main" id="{D6C49F6F-AF28-8942-8442-8F54A1DC388B}"/>
              </a:ext>
            </a:extLst>
          </p:cNvPr>
          <p:cNvSpPr>
            <a:spLocks noGrp="1"/>
          </p:cNvSpPr>
          <p:nvPr>
            <p:ph type="body" sz="quarter" idx="35"/>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GB" noProof="0"/>
              <a:t>Click to edit </a:t>
            </a:r>
          </a:p>
        </p:txBody>
      </p:sp>
      <p:cxnSp>
        <p:nvCxnSpPr>
          <p:cNvPr id="8" name="Straight Connector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47" name="Rectangle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27" name="Rectangle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29" name="Rectangle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dirty="0"/>
          </a:p>
        </p:txBody>
      </p:sp>
      <p:sp>
        <p:nvSpPr>
          <p:cNvPr id="4" name="Footer Placeholder 3">
            <a:extLst>
              <a:ext uri="{FF2B5EF4-FFF2-40B4-BE49-F238E27FC236}">
                <a16:creationId xmlns:a16="http://schemas.microsoft.com/office/drawing/2014/main" id="{FF46DFD4-BF8C-4939-874D-85B7DF956768}"/>
              </a:ext>
            </a:extLst>
          </p:cNvPr>
          <p:cNvSpPr>
            <a:spLocks noGrp="1"/>
          </p:cNvSpPr>
          <p:nvPr>
            <p:ph type="ftr" sz="quarter" idx="37"/>
          </p:nvPr>
        </p:nvSpPr>
        <p:spPr/>
        <p:txBody>
          <a:bodyPr rtlCol="0"/>
          <a:lstStyle/>
          <a:p>
            <a:pPr rtl="0"/>
            <a:r>
              <a:rPr lang="en-GB" noProof="0" dirty="0"/>
              <a:t>Annual Review</a:t>
            </a:r>
            <a:endParaRPr lang="en-GB" b="0" noProof="0" dirty="0"/>
          </a:p>
        </p:txBody>
      </p:sp>
      <p:sp>
        <p:nvSpPr>
          <p:cNvPr id="5" name="Slide Number Placeholder 4">
            <a:extLst>
              <a:ext uri="{FF2B5EF4-FFF2-40B4-BE49-F238E27FC236}">
                <a16:creationId xmlns:a16="http://schemas.microsoft.com/office/drawing/2014/main" id="{7373856F-38E9-4BBF-93D8-0F8AC2E0E6C7}"/>
              </a:ext>
            </a:extLst>
          </p:cNvPr>
          <p:cNvSpPr>
            <a:spLocks noGrp="1"/>
          </p:cNvSpPr>
          <p:nvPr>
            <p:ph type="sldNum" sz="quarter" idx="38"/>
          </p:nvPr>
        </p:nvSpPr>
        <p:spPr/>
        <p:txBody>
          <a:bodyPr rtlCol="0"/>
          <a:lstStyle/>
          <a:p>
            <a:pPr rtl="0"/>
            <a:fld id="{294A09A9-5501-47C1-A89A-A340965A2BE2}" type="slidenum">
              <a:rPr lang="en-GB" noProof="0" smtClean="0"/>
              <a:pPr/>
              <a:t>‹#›</a:t>
            </a:fld>
            <a:endParaRPr lang="en-GB" noProof="0" dirty="0">
              <a:latin typeface="+mn-lt"/>
            </a:endParaRPr>
          </a:p>
        </p:txBody>
      </p:sp>
    </p:spTree>
    <p:extLst>
      <p:ext uri="{BB962C8B-B14F-4D97-AF65-F5344CB8AC3E}">
        <p14:creationId xmlns:p14="http://schemas.microsoft.com/office/powerpoint/2010/main" val="29861552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3768" userDrawn="1">
          <p15:clr>
            <a:srgbClr val="FBAE40"/>
          </p15:clr>
        </p15:guide>
        <p15:guide id="9" orient="horz" pos="552" userDrawn="1">
          <p15:clr>
            <a:srgbClr val="FBAE40"/>
          </p15:clr>
        </p15:guide>
        <p15:guide id="10" orient="horz" pos="1512" userDrawn="1">
          <p15:clr>
            <a:srgbClr val="FBAE40"/>
          </p15:clr>
        </p15:guide>
        <p15:guide id="11" orient="horz" pos="283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1" name="Freeform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2" name="Freeform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GB" noProof="0" dirty="0"/>
              <a:t>Click to edit </a:t>
            </a:r>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dirty="0"/>
              <a:t>Click to edit </a:t>
            </a:r>
          </a:p>
        </p:txBody>
      </p:sp>
      <p:sp>
        <p:nvSpPr>
          <p:cNvPr id="25" name="Text Placeholder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dirty="0"/>
              <a:t>Click to edit </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GB" noProof="0" dirty="0"/>
              <a:t>Click to edit Master text styles</a:t>
            </a:r>
          </a:p>
        </p:txBody>
      </p:sp>
      <p:sp>
        <p:nvSpPr>
          <p:cNvPr id="28" name="Content Placeholder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GB" noProof="0" dirty="0"/>
              <a:t>Click to edit Master text styles</a:t>
            </a:r>
          </a:p>
        </p:txBody>
      </p:sp>
      <p:cxnSp>
        <p:nvCxnSpPr>
          <p:cNvPr id="15" name="Straight Connector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D2060DA6-6E6F-47BF-9680-1B030F525DD2}"/>
              </a:ext>
            </a:extLst>
          </p:cNvPr>
          <p:cNvSpPr>
            <a:spLocks noGrp="1"/>
          </p:cNvSpPr>
          <p:nvPr>
            <p:ph type="ftr" sz="quarter" idx="15"/>
          </p:nvPr>
        </p:nvSpPr>
        <p:spPr/>
        <p:txBody>
          <a:bodyPr rtlCol="0"/>
          <a:lstStyle/>
          <a:p>
            <a:pPr rtl="0"/>
            <a:r>
              <a:rPr lang="en-GB" noProof="0" dirty="0"/>
              <a:t>Annual Review</a:t>
            </a:r>
            <a:endParaRPr lang="en-GB" b="0" noProof="0" dirty="0"/>
          </a:p>
        </p:txBody>
      </p:sp>
      <p:sp>
        <p:nvSpPr>
          <p:cNvPr id="5" name="Slide Number Placeholder 4">
            <a:extLst>
              <a:ext uri="{FF2B5EF4-FFF2-40B4-BE49-F238E27FC236}">
                <a16:creationId xmlns:a16="http://schemas.microsoft.com/office/drawing/2014/main" id="{FF8F140D-2B48-4E31-9E97-08B68ABBAC1E}"/>
              </a:ext>
            </a:extLst>
          </p:cNvPr>
          <p:cNvSpPr>
            <a:spLocks noGrp="1"/>
          </p:cNvSpPr>
          <p:nvPr>
            <p:ph type="sldNum" sz="quarter" idx="16"/>
          </p:nvPr>
        </p:nvSpPr>
        <p:spPr/>
        <p:txBody>
          <a:bodyPr rtlCol="0"/>
          <a:lstStyle/>
          <a:p>
            <a:pPr rtl="0"/>
            <a:fld id="{294A09A9-5501-47C1-A89A-A340965A2BE2}" type="slidenum">
              <a:rPr lang="en-GB" noProof="0" smtClean="0"/>
              <a:pPr/>
              <a:t>‹#›</a:t>
            </a:fld>
            <a:endParaRPr lang="en-GB" noProof="0" dirty="0"/>
          </a:p>
        </p:txBody>
      </p:sp>
    </p:spTree>
    <p:extLst>
      <p:ext uri="{BB962C8B-B14F-4D97-AF65-F5344CB8AC3E}">
        <p14:creationId xmlns:p14="http://schemas.microsoft.com/office/powerpoint/2010/main" val="25504253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reeform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39" name="Freeform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40" name="Freeform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GB" noProof="0" dirty="0"/>
              <a:t>Click to edit </a:t>
            </a:r>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GB" noProof="0" dirty="0"/>
              <a:t>Click to edit </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GB" noProof="0" dirty="0"/>
              <a:t>Click to edit Master text styles</a:t>
            </a:r>
          </a:p>
        </p:txBody>
      </p:sp>
      <p:sp>
        <p:nvSpPr>
          <p:cNvPr id="20" name="Text Placeholder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GB" noProof="0" dirty="0"/>
              <a:t>Click to edit </a:t>
            </a:r>
          </a:p>
        </p:txBody>
      </p:sp>
      <p:sp>
        <p:nvSpPr>
          <p:cNvPr id="21" name="Content Placeholder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GB" noProof="0" dirty="0"/>
              <a:t>Click to edit Master text styles</a:t>
            </a:r>
          </a:p>
        </p:txBody>
      </p:sp>
      <p:sp>
        <p:nvSpPr>
          <p:cNvPr id="22" name="Text Placeholder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GB" noProof="0" dirty="0"/>
              <a:t>Click to edit </a:t>
            </a:r>
          </a:p>
        </p:txBody>
      </p:sp>
      <p:sp>
        <p:nvSpPr>
          <p:cNvPr id="24" name="Content Placeholder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GB" noProof="0" dirty="0"/>
              <a:t>Click to edit Master text styles</a:t>
            </a:r>
          </a:p>
        </p:txBody>
      </p:sp>
      <p:cxnSp>
        <p:nvCxnSpPr>
          <p:cNvPr id="26" name="Straight Connector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4" name="Footer Placeholder 3">
            <a:extLst>
              <a:ext uri="{FF2B5EF4-FFF2-40B4-BE49-F238E27FC236}">
                <a16:creationId xmlns:a16="http://schemas.microsoft.com/office/drawing/2014/main" id="{9A79B87D-E8CF-49AE-9326-2FEED2392F09}"/>
              </a:ext>
            </a:extLst>
          </p:cNvPr>
          <p:cNvSpPr>
            <a:spLocks noGrp="1"/>
          </p:cNvSpPr>
          <p:nvPr>
            <p:ph type="ftr" sz="quarter" idx="15"/>
          </p:nvPr>
        </p:nvSpPr>
        <p:spPr/>
        <p:txBody>
          <a:bodyPr rtlCol="0"/>
          <a:lstStyle/>
          <a:p>
            <a:pPr rtl="0"/>
            <a:r>
              <a:rPr lang="en-GB" noProof="0" dirty="0"/>
              <a:t>Annual Review</a:t>
            </a:r>
            <a:endParaRPr lang="en-GB" b="0" noProof="0" dirty="0"/>
          </a:p>
        </p:txBody>
      </p:sp>
      <p:sp>
        <p:nvSpPr>
          <p:cNvPr id="5" name="Slide Number Placeholder 4">
            <a:extLst>
              <a:ext uri="{FF2B5EF4-FFF2-40B4-BE49-F238E27FC236}">
                <a16:creationId xmlns:a16="http://schemas.microsoft.com/office/drawing/2014/main" id="{7BA139CE-3E4D-4224-B157-2D29EC10FE40}"/>
              </a:ext>
            </a:extLst>
          </p:cNvPr>
          <p:cNvSpPr>
            <a:spLocks noGrp="1"/>
          </p:cNvSpPr>
          <p:nvPr>
            <p:ph type="sldNum" sz="quarter" idx="16"/>
          </p:nvPr>
        </p:nvSpPr>
        <p:spPr/>
        <p:txBody>
          <a:bodyPr rtlCol="0"/>
          <a:lstStyle/>
          <a:p>
            <a:pPr rtl="0"/>
            <a:fld id="{294A09A9-5501-47C1-A89A-A340965A2BE2}" type="slidenum">
              <a:rPr lang="en-GB" noProof="0" smtClean="0"/>
              <a:pPr/>
              <a:t>‹#›</a:t>
            </a:fld>
            <a:endParaRPr lang="en-GB" noProof="0" dirty="0"/>
          </a:p>
        </p:txBody>
      </p:sp>
    </p:spTree>
    <p:extLst>
      <p:ext uri="{BB962C8B-B14F-4D97-AF65-F5344CB8AC3E}">
        <p14:creationId xmlns:p14="http://schemas.microsoft.com/office/powerpoint/2010/main" val="42279487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userDrawn="1">
          <p15:clr>
            <a:srgbClr val="FBAE40"/>
          </p15:clr>
        </p15:guide>
        <p15:guide id="4" pos="5160" userDrawn="1">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userDrawn="1">
          <p15:clr>
            <a:srgbClr val="FBAE40"/>
          </p15:clr>
        </p15:guide>
        <p15:guide id="11" pos="2880" userDrawn="1">
          <p15:clr>
            <a:srgbClr val="FBAE40"/>
          </p15:clr>
        </p15:guide>
        <p15:guide id="12" orient="horz" pos="175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
    <p:bg>
      <p:bgPr>
        <a:solidFill>
          <a:schemeClr val="tx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GB" noProof="0" dirty="0"/>
              <a:t>Click to edit </a:t>
            </a:r>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Text Placeholder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n-GB" noProof="0" dirty="0"/>
              <a:t>Click to edit</a:t>
            </a:r>
          </a:p>
        </p:txBody>
      </p:sp>
      <p:grpSp>
        <p:nvGrpSpPr>
          <p:cNvPr id="15" name="Group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reeform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17" name="Freeform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18" name="Freeform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
        <p:nvSpPr>
          <p:cNvPr id="4" name="Text Placeholder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GB" noProof="0" dirty="0"/>
              <a:t>Click to edit</a:t>
            </a:r>
          </a:p>
        </p:txBody>
      </p:sp>
      <p:sp>
        <p:nvSpPr>
          <p:cNvPr id="21" name="Text Placeholder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n-GB" noProof="0" dirty="0"/>
              <a:t>Click to edit</a:t>
            </a:r>
          </a:p>
        </p:txBody>
      </p:sp>
      <p:sp>
        <p:nvSpPr>
          <p:cNvPr id="22" name="Text Placeholder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GB" noProof="0" dirty="0"/>
              <a:t>Click to edit</a:t>
            </a:r>
          </a:p>
        </p:txBody>
      </p:sp>
      <p:sp>
        <p:nvSpPr>
          <p:cNvPr id="23" name="Text Placeholder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n-GB" noProof="0" dirty="0"/>
              <a:t>Click to edit</a:t>
            </a:r>
          </a:p>
        </p:txBody>
      </p:sp>
      <p:sp>
        <p:nvSpPr>
          <p:cNvPr id="24" name="Text Placeholder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GB" noProof="0" dirty="0"/>
              <a:t>Click to edit</a:t>
            </a:r>
          </a:p>
        </p:txBody>
      </p:sp>
      <p:sp>
        <p:nvSpPr>
          <p:cNvPr id="25" name="Text Placeholder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n-GB" noProof="0" dirty="0"/>
              <a:t>Click to edit</a:t>
            </a:r>
          </a:p>
        </p:txBody>
      </p:sp>
      <p:sp>
        <p:nvSpPr>
          <p:cNvPr id="26" name="Text Placeholder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GB" noProof="0" dirty="0"/>
              <a:t>Click to edit</a:t>
            </a:r>
          </a:p>
        </p:txBody>
      </p:sp>
      <p:sp>
        <p:nvSpPr>
          <p:cNvPr id="27" name="Text Placeholder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n-GB" noProof="0" dirty="0"/>
              <a:t>Click to edit</a:t>
            </a:r>
          </a:p>
        </p:txBody>
      </p:sp>
      <p:sp>
        <p:nvSpPr>
          <p:cNvPr id="28" name="Text Placeholder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GB" noProof="0" dirty="0"/>
              <a:t>Click to edit</a:t>
            </a:r>
          </a:p>
        </p:txBody>
      </p:sp>
      <p:sp>
        <p:nvSpPr>
          <p:cNvPr id="6" name="Footer Placeholder 5">
            <a:extLst>
              <a:ext uri="{FF2B5EF4-FFF2-40B4-BE49-F238E27FC236}">
                <a16:creationId xmlns:a16="http://schemas.microsoft.com/office/drawing/2014/main" id="{2DBF2453-9E16-47FE-A8ED-4661246DE597}"/>
              </a:ext>
            </a:extLst>
          </p:cNvPr>
          <p:cNvSpPr>
            <a:spLocks noGrp="1"/>
          </p:cNvSpPr>
          <p:nvPr>
            <p:ph type="ftr" sz="quarter" idx="22"/>
          </p:nvPr>
        </p:nvSpPr>
        <p:spPr/>
        <p:txBody>
          <a:bodyPr rtlCol="0"/>
          <a:lstStyle/>
          <a:p>
            <a:pPr rtl="0"/>
            <a:r>
              <a:rPr lang="en-GB" noProof="0" dirty="0"/>
              <a:t>Annual Review</a:t>
            </a:r>
            <a:endParaRPr lang="en-GB" b="0" noProof="0" dirty="0"/>
          </a:p>
        </p:txBody>
      </p:sp>
      <p:sp>
        <p:nvSpPr>
          <p:cNvPr id="7" name="Slide Number Placeholder 6">
            <a:extLst>
              <a:ext uri="{FF2B5EF4-FFF2-40B4-BE49-F238E27FC236}">
                <a16:creationId xmlns:a16="http://schemas.microsoft.com/office/drawing/2014/main" id="{F636E9EA-D950-424A-BC92-F6794D6E5D67}"/>
              </a:ext>
            </a:extLst>
          </p:cNvPr>
          <p:cNvSpPr>
            <a:spLocks noGrp="1"/>
          </p:cNvSpPr>
          <p:nvPr>
            <p:ph type="sldNum" sz="quarter" idx="23"/>
          </p:nvPr>
        </p:nvSpPr>
        <p:spPr/>
        <p:txBody>
          <a:bodyPr rtlCol="0"/>
          <a:lstStyle/>
          <a:p>
            <a:pPr rtl="0"/>
            <a:fld id="{294A09A9-5501-47C1-A89A-A340965A2BE2}" type="slidenum">
              <a:rPr lang="en-GB" noProof="0" smtClean="0"/>
              <a:pPr/>
              <a:t>‹#›</a:t>
            </a:fld>
            <a:endParaRPr lang="en-GB" noProof="0" dirty="0"/>
          </a:p>
        </p:txBody>
      </p:sp>
    </p:spTree>
    <p:extLst>
      <p:ext uri="{BB962C8B-B14F-4D97-AF65-F5344CB8AC3E}">
        <p14:creationId xmlns:p14="http://schemas.microsoft.com/office/powerpoint/2010/main" val="3060135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solidFill>
        <a:effectLst/>
      </p:bgPr>
    </p:bg>
    <p:spTree>
      <p:nvGrpSpPr>
        <p:cNvPr id="1" name=""/>
        <p:cNvGrpSpPr/>
        <p:nvPr/>
      </p:nvGrpSpPr>
      <p:grpSpPr>
        <a:xfrm>
          <a:off x="0" y="0"/>
          <a:ext cx="0" cy="0"/>
          <a:chOff x="0" y="0"/>
          <a:chExt cx="0" cy="0"/>
        </a:xfrm>
      </p:grpSpPr>
      <p:sp>
        <p:nvSpPr>
          <p:cNvPr id="16" name="Text Placeholder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n-GB" noProof="0" dirty="0"/>
              <a:t>Click to edit </a:t>
            </a:r>
          </a:p>
        </p:txBody>
      </p:sp>
      <p:sp>
        <p:nvSpPr>
          <p:cNvPr id="17" name="Subtitle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GB" noProof="0" dirty="0"/>
              <a:t>Click to edit</a:t>
            </a:r>
          </a:p>
        </p:txBody>
      </p:sp>
      <p:sp>
        <p:nvSpPr>
          <p:cNvPr id="26" name="Title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n-GB" noProof="0" dirty="0"/>
              <a:t>Click to edit </a:t>
            </a:r>
          </a:p>
        </p:txBody>
      </p:sp>
      <p:cxnSp>
        <p:nvCxnSpPr>
          <p:cNvPr id="27" name="Straight Connector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Picture Placeholder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endParaRPr lang="en-GB" noProof="0" dirty="0"/>
          </a:p>
        </p:txBody>
      </p:sp>
      <p:grpSp>
        <p:nvGrpSpPr>
          <p:cNvPr id="30" name="Group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reeform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32" name="Freeform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33" name="Freeform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Tree>
    <p:extLst>
      <p:ext uri="{BB962C8B-B14F-4D97-AF65-F5344CB8AC3E}">
        <p14:creationId xmlns:p14="http://schemas.microsoft.com/office/powerpoint/2010/main" val="999130720"/>
      </p:ext>
    </p:extLst>
  </p:cSld>
  <p:clrMapOvr>
    <a:masterClrMapping/>
  </p:clrMapOvr>
  <p:extLst>
    <p:ext uri="{DCECCB84-F9BA-43D5-87BE-67443E8EF086}">
      <p15:sldGuideLst xmlns:p15="http://schemas.microsoft.com/office/powerpoint/2012/main">
        <p15:guide id="1" pos="60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en-GB" noProof="0"/>
              <a:t>Click to edit Master title style</a:t>
            </a:r>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A67D7CDD-04F6-4DA1-B148-B380BAA1027D}" type="datetime4">
              <a:rPr lang="en-GB" noProof="0" smtClean="0">
                <a:latin typeface="+mn-lt"/>
              </a:rPr>
              <a:t>04 June 2026</a:t>
            </a:fld>
            <a:endParaRPr lang="en-GB" noProof="0" dirty="0">
              <a:latin typeface="+mn-lt"/>
            </a:endParaRPr>
          </a:p>
        </p:txBody>
      </p:sp>
      <p:sp>
        <p:nvSpPr>
          <p:cNvPr id="31" name="Footer Placeholder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rtl="0"/>
            <a:r>
              <a:rPr lang="en-GB" noProof="0" dirty="0"/>
              <a:t>Annual Review</a:t>
            </a:r>
            <a:endParaRPr lang="en-GB" b="0" noProof="0" dirty="0"/>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n-GB" noProof="0" smtClean="0"/>
              <a:pPr/>
              <a:t>‹#›</a:t>
            </a:fld>
            <a:endParaRPr lang="en-GB" noProof="0" dirty="0">
              <a:latin typeface="+mn-lt"/>
            </a:endParaRPr>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659" r:id="rId1"/>
    <p:sldLayoutId id="2147483693" r:id="rId2"/>
    <p:sldLayoutId id="2147483671" r:id="rId3"/>
    <p:sldLayoutId id="2147483672" r:id="rId4"/>
    <p:sldLayoutId id="2147483673" r:id="rId5"/>
    <p:sldLayoutId id="2147483684" r:id="rId6"/>
    <p:sldLayoutId id="2147483675" r:id="rId7"/>
    <p:sldLayoutId id="2147483676" r:id="rId8"/>
    <p:sldLayoutId id="2147483677" r:id="rId9"/>
    <p:sldLayoutId id="2147483685" r:id="rId10"/>
    <p:sldLayoutId id="2147483688" r:id="rId11"/>
    <p:sldLayoutId id="2147483692" r:id="rId12"/>
    <p:sldLayoutId id="2147483682" r:id="rId13"/>
  </p:sldLayoutIdLst>
  <p:hf hdr="0" dt="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E168C-8042-5B4E-A5A4-A5BF693AE2D6}"/>
              </a:ext>
            </a:extLst>
          </p:cNvPr>
          <p:cNvSpPr>
            <a:spLocks noGrp="1"/>
          </p:cNvSpPr>
          <p:nvPr>
            <p:ph type="ctrTitle"/>
          </p:nvPr>
        </p:nvSpPr>
        <p:spPr>
          <a:xfrm>
            <a:off x="6096000" y="2400434"/>
            <a:ext cx="5491571" cy="495166"/>
          </a:xfrm>
        </p:spPr>
        <p:txBody>
          <a:bodyPr rtlCol="0"/>
          <a:lstStyle/>
          <a:p>
            <a:r>
              <a:rPr lang="en-GB" sz="2800" dirty="0">
                <a:latin typeface="Calibri"/>
                <a:ea typeface="Calibri"/>
                <a:cs typeface="Times New Roman"/>
              </a:rPr>
              <a:t>ENHANCING OPERATIONAL </a:t>
            </a:r>
            <a:r>
              <a:rPr lang="en-US" sz="2800" dirty="0">
                <a:latin typeface="Calibri"/>
                <a:ea typeface="Calibri"/>
                <a:cs typeface="Times New Roman"/>
              </a:rPr>
              <a:t>EFFICIENCY AND PROFITABILITY THROUGH  RELIABLE SUPPLY SOLUTIONS FOR GOVERNMENT AND PRIVATE ENTITIES</a:t>
            </a:r>
            <a:endParaRPr lang="en-GB" sz="2800" dirty="0">
              <a:latin typeface="Calibri"/>
              <a:ea typeface="Calibri"/>
              <a:cs typeface="Times New Roman"/>
            </a:endParaRPr>
          </a:p>
        </p:txBody>
      </p:sp>
      <p:sp>
        <p:nvSpPr>
          <p:cNvPr id="3" name="Text Placeholder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953337"/>
          </a:xfrm>
        </p:spPr>
        <p:txBody>
          <a:bodyPr vert="horz" lIns="0" tIns="0" rIns="0" bIns="0" rtlCol="0" anchor="t">
            <a:noAutofit/>
          </a:bodyPr>
          <a:lstStyle/>
          <a:p>
            <a:r>
              <a:rPr lang="en-GB" dirty="0"/>
              <a:t>Presented by:</a:t>
            </a:r>
            <a:endParaRPr lang="en-US" dirty="0"/>
          </a:p>
          <a:p>
            <a:r>
              <a:rPr lang="en-GB" sz="2000" dirty="0"/>
              <a:t>DEVANSH GUPTA </a:t>
            </a:r>
            <a:endParaRPr lang="en-US" sz="2000" dirty="0"/>
          </a:p>
          <a:p>
            <a:r>
              <a:rPr lang="en-GB" sz="2000" dirty="0"/>
              <a:t>22F3002843</a:t>
            </a:r>
          </a:p>
        </p:txBody>
      </p:sp>
      <p:pic>
        <p:nvPicPr>
          <p:cNvPr id="5" name="Picture 4" descr="IIT Madras - Wikipedia">
            <a:extLst>
              <a:ext uri="{FF2B5EF4-FFF2-40B4-BE49-F238E27FC236}">
                <a16:creationId xmlns:a16="http://schemas.microsoft.com/office/drawing/2014/main" id="{B5D290AE-8093-B58F-5264-FAAD1BAD47CF}"/>
              </a:ext>
            </a:extLst>
          </p:cNvPr>
          <p:cNvPicPr>
            <a:picLocks noChangeAspect="1"/>
          </p:cNvPicPr>
          <p:nvPr/>
        </p:nvPicPr>
        <p:blipFill>
          <a:blip r:embed="rId3"/>
          <a:stretch>
            <a:fillRect/>
          </a:stretch>
        </p:blipFill>
        <p:spPr>
          <a:xfrm>
            <a:off x="3087385" y="408398"/>
            <a:ext cx="2743200" cy="2743200"/>
          </a:xfrm>
          <a:prstGeom prst="rect">
            <a:avLst/>
          </a:prstGeom>
        </p:spPr>
      </p:pic>
    </p:spTree>
    <p:extLst>
      <p:ext uri="{BB962C8B-B14F-4D97-AF65-F5344CB8AC3E}">
        <p14:creationId xmlns:p14="http://schemas.microsoft.com/office/powerpoint/2010/main" val="2960950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54756-A790-C845-A85F-35391529E591}"/>
              </a:ext>
            </a:extLst>
          </p:cNvPr>
          <p:cNvSpPr>
            <a:spLocks noGrp="1"/>
          </p:cNvSpPr>
          <p:nvPr>
            <p:ph type="title"/>
          </p:nvPr>
        </p:nvSpPr>
        <p:spPr>
          <a:xfrm>
            <a:off x="964023" y="879063"/>
            <a:ext cx="4941477" cy="610863"/>
          </a:xfrm>
        </p:spPr>
        <p:txBody>
          <a:bodyPr rtlCol="0"/>
          <a:lstStyle/>
          <a:p>
            <a:pPr rtl="0"/>
            <a:r>
              <a:rPr lang="en-GB" b="0" dirty="0">
                <a:latin typeface="Calibri"/>
                <a:ea typeface="Calibri"/>
                <a:cs typeface="Calibri"/>
              </a:rPr>
              <a:t>Contents</a:t>
            </a:r>
          </a:p>
        </p:txBody>
      </p:sp>
      <p:sp>
        <p:nvSpPr>
          <p:cNvPr id="3" name="Text Placeholder 2">
            <a:extLst>
              <a:ext uri="{FF2B5EF4-FFF2-40B4-BE49-F238E27FC236}">
                <a16:creationId xmlns:a16="http://schemas.microsoft.com/office/drawing/2014/main" id="{91AA5D8C-0134-F046-A548-3465F817747C}"/>
              </a:ext>
            </a:extLst>
          </p:cNvPr>
          <p:cNvSpPr>
            <a:spLocks noGrp="1"/>
          </p:cNvSpPr>
          <p:nvPr>
            <p:ph type="body" sz="quarter" idx="13"/>
          </p:nvPr>
        </p:nvSpPr>
        <p:spPr>
          <a:xfrm>
            <a:off x="952500" y="2818296"/>
            <a:ext cx="2133600" cy="369332"/>
          </a:xfrm>
        </p:spPr>
        <p:txBody>
          <a:bodyPr vert="horz" lIns="0" tIns="0" rIns="0" bIns="0" rtlCol="0" anchor="t">
            <a:noAutofit/>
          </a:bodyPr>
          <a:lstStyle/>
          <a:p>
            <a:r>
              <a:rPr lang="en-GB" dirty="0"/>
              <a:t>A brief introduction of the organization.</a:t>
            </a:r>
          </a:p>
        </p:txBody>
      </p:sp>
      <p:sp>
        <p:nvSpPr>
          <p:cNvPr id="4" name="Text Placeholder 3">
            <a:extLst>
              <a:ext uri="{FF2B5EF4-FFF2-40B4-BE49-F238E27FC236}">
                <a16:creationId xmlns:a16="http://schemas.microsoft.com/office/drawing/2014/main" id="{C7EC6698-132B-1143-A2A9-00A97D9572D8}"/>
              </a:ext>
            </a:extLst>
          </p:cNvPr>
          <p:cNvSpPr>
            <a:spLocks noGrp="1"/>
          </p:cNvSpPr>
          <p:nvPr>
            <p:ph type="body" sz="quarter" idx="14"/>
          </p:nvPr>
        </p:nvSpPr>
        <p:spPr>
          <a:xfrm>
            <a:off x="871610" y="2209800"/>
            <a:ext cx="2455985" cy="369332"/>
          </a:xfrm>
        </p:spPr>
        <p:txBody>
          <a:bodyPr vert="horz" lIns="0" tIns="0" rIns="0" bIns="0" rtlCol="0" anchor="t">
            <a:noAutofit/>
          </a:bodyPr>
          <a:lstStyle/>
          <a:p>
            <a:r>
              <a:rPr lang="en-GB" dirty="0"/>
              <a:t>01. About The Business</a:t>
            </a:r>
          </a:p>
        </p:txBody>
      </p:sp>
      <p:sp>
        <p:nvSpPr>
          <p:cNvPr id="5" name="Text Placeholder 4">
            <a:extLst>
              <a:ext uri="{FF2B5EF4-FFF2-40B4-BE49-F238E27FC236}">
                <a16:creationId xmlns:a16="http://schemas.microsoft.com/office/drawing/2014/main" id="{6979C7D4-91CF-6443-91D5-65DC860B407D}"/>
              </a:ext>
            </a:extLst>
          </p:cNvPr>
          <p:cNvSpPr>
            <a:spLocks noGrp="1"/>
          </p:cNvSpPr>
          <p:nvPr>
            <p:ph type="body" sz="quarter" idx="15"/>
          </p:nvPr>
        </p:nvSpPr>
        <p:spPr>
          <a:xfrm>
            <a:off x="3663042" y="2818296"/>
            <a:ext cx="2128157" cy="369332"/>
          </a:xfrm>
        </p:spPr>
        <p:txBody>
          <a:bodyPr vert="horz" lIns="0" tIns="0" rIns="0" bIns="0" rtlCol="0" anchor="t">
            <a:noAutofit/>
          </a:bodyPr>
          <a:lstStyle/>
          <a:p>
            <a:r>
              <a:rPr lang="en-GB" dirty="0"/>
              <a:t>An overview of the problems faced by the business.</a:t>
            </a:r>
          </a:p>
        </p:txBody>
      </p:sp>
      <p:sp>
        <p:nvSpPr>
          <p:cNvPr id="6" name="Text Placeholder 5">
            <a:extLst>
              <a:ext uri="{FF2B5EF4-FFF2-40B4-BE49-F238E27FC236}">
                <a16:creationId xmlns:a16="http://schemas.microsoft.com/office/drawing/2014/main" id="{C0015C52-08ED-464E-B7E8-24892D9C1319}"/>
              </a:ext>
            </a:extLst>
          </p:cNvPr>
          <p:cNvSpPr>
            <a:spLocks noGrp="1"/>
          </p:cNvSpPr>
          <p:nvPr>
            <p:ph type="body" sz="quarter" idx="16"/>
          </p:nvPr>
        </p:nvSpPr>
        <p:spPr>
          <a:xfrm>
            <a:off x="3663042" y="2209800"/>
            <a:ext cx="2128157" cy="608496"/>
          </a:xfrm>
        </p:spPr>
        <p:txBody>
          <a:bodyPr vert="horz" lIns="0" tIns="0" rIns="0" bIns="0" rtlCol="0" anchor="t">
            <a:noAutofit/>
          </a:bodyPr>
          <a:lstStyle/>
          <a:p>
            <a:r>
              <a:rPr lang="en-GB" dirty="0"/>
              <a:t>02. Challenges faced</a:t>
            </a:r>
          </a:p>
        </p:txBody>
      </p:sp>
      <p:sp>
        <p:nvSpPr>
          <p:cNvPr id="7" name="Text Placeholder 6">
            <a:extLst>
              <a:ext uri="{FF2B5EF4-FFF2-40B4-BE49-F238E27FC236}">
                <a16:creationId xmlns:a16="http://schemas.microsoft.com/office/drawing/2014/main" id="{3E1C152D-1AA6-9242-B5C9-B06EEE4F9661}"/>
              </a:ext>
            </a:extLst>
          </p:cNvPr>
          <p:cNvSpPr>
            <a:spLocks noGrp="1"/>
          </p:cNvSpPr>
          <p:nvPr>
            <p:ph type="body" sz="quarter" idx="19"/>
          </p:nvPr>
        </p:nvSpPr>
        <p:spPr>
          <a:xfrm>
            <a:off x="952500" y="5131299"/>
            <a:ext cx="2133600" cy="673600"/>
          </a:xfrm>
        </p:spPr>
        <p:txBody>
          <a:bodyPr vert="horz" lIns="0" tIns="0" rIns="0" bIns="0" rtlCol="0" anchor="t">
            <a:noAutofit/>
          </a:bodyPr>
          <a:lstStyle/>
          <a:p>
            <a:r>
              <a:rPr lang="en-GB" dirty="0"/>
              <a:t>An overview of nature of data collected and cleaning process.</a:t>
            </a:r>
            <a:endParaRPr lang="en-US" dirty="0"/>
          </a:p>
        </p:txBody>
      </p:sp>
      <p:sp>
        <p:nvSpPr>
          <p:cNvPr id="8" name="Text Placeholder 7">
            <a:extLst>
              <a:ext uri="{FF2B5EF4-FFF2-40B4-BE49-F238E27FC236}">
                <a16:creationId xmlns:a16="http://schemas.microsoft.com/office/drawing/2014/main" id="{B32B0C1D-C221-7C47-B7D6-77E7BDB41749}"/>
              </a:ext>
            </a:extLst>
          </p:cNvPr>
          <p:cNvSpPr>
            <a:spLocks noGrp="1"/>
          </p:cNvSpPr>
          <p:nvPr>
            <p:ph type="body" sz="quarter" idx="20"/>
          </p:nvPr>
        </p:nvSpPr>
        <p:spPr>
          <a:xfrm>
            <a:off x="952500" y="4522803"/>
            <a:ext cx="2133600" cy="369332"/>
          </a:xfrm>
        </p:spPr>
        <p:txBody>
          <a:bodyPr vert="horz" lIns="0" tIns="0" rIns="0" bIns="0" rtlCol="0" anchor="t">
            <a:noAutofit/>
          </a:bodyPr>
          <a:lstStyle/>
          <a:p>
            <a:r>
              <a:rPr lang="en-GB" dirty="0"/>
              <a:t>03. Data Collection</a:t>
            </a:r>
          </a:p>
        </p:txBody>
      </p:sp>
      <p:sp>
        <p:nvSpPr>
          <p:cNvPr id="9" name="Text Placeholder 8">
            <a:extLst>
              <a:ext uri="{FF2B5EF4-FFF2-40B4-BE49-F238E27FC236}">
                <a16:creationId xmlns:a16="http://schemas.microsoft.com/office/drawing/2014/main" id="{38FB4732-AB07-C54D-AF44-F8ADB6D2B8B6}"/>
              </a:ext>
            </a:extLst>
          </p:cNvPr>
          <p:cNvSpPr>
            <a:spLocks noGrp="1"/>
          </p:cNvSpPr>
          <p:nvPr>
            <p:ph type="body" sz="quarter" idx="21"/>
          </p:nvPr>
        </p:nvSpPr>
        <p:spPr>
          <a:xfrm>
            <a:off x="3663042" y="5131299"/>
            <a:ext cx="2128157" cy="369332"/>
          </a:xfrm>
        </p:spPr>
        <p:txBody>
          <a:bodyPr vert="horz" lIns="0" tIns="0" rIns="0" bIns="0" rtlCol="0" anchor="t">
            <a:noAutofit/>
          </a:bodyPr>
          <a:lstStyle/>
          <a:p>
            <a:r>
              <a:rPr lang="en-IN" dirty="0"/>
              <a:t>Approach for Data Analysis.</a:t>
            </a:r>
            <a:endParaRPr lang="en-IN" dirty="0">
              <a:effectLst/>
            </a:endParaRPr>
          </a:p>
        </p:txBody>
      </p:sp>
      <p:sp>
        <p:nvSpPr>
          <p:cNvPr id="10" name="Text Placeholder 9">
            <a:extLst>
              <a:ext uri="{FF2B5EF4-FFF2-40B4-BE49-F238E27FC236}">
                <a16:creationId xmlns:a16="http://schemas.microsoft.com/office/drawing/2014/main" id="{69BD3932-D1D0-1045-BD96-8B26F11B8515}"/>
              </a:ext>
            </a:extLst>
          </p:cNvPr>
          <p:cNvSpPr>
            <a:spLocks noGrp="1"/>
          </p:cNvSpPr>
          <p:nvPr>
            <p:ph type="body" sz="quarter" idx="22"/>
          </p:nvPr>
        </p:nvSpPr>
        <p:spPr>
          <a:xfrm>
            <a:off x="3653273" y="4522803"/>
            <a:ext cx="2323541" cy="369332"/>
          </a:xfrm>
        </p:spPr>
        <p:txBody>
          <a:bodyPr vert="horz" lIns="0" tIns="0" rIns="0" bIns="0" rtlCol="0" anchor="t">
            <a:noAutofit/>
          </a:bodyPr>
          <a:lstStyle/>
          <a:p>
            <a:pPr rtl="0"/>
            <a:r>
              <a:rPr lang="en-GB" dirty="0"/>
              <a:t>04. </a:t>
            </a:r>
            <a:r>
              <a:rPr lang="en-GB" dirty="0">
                <a:solidFill>
                  <a:srgbClr val="7CA655"/>
                </a:solidFill>
              </a:rPr>
              <a:t>Analysis</a:t>
            </a:r>
            <a:r>
              <a:rPr lang="en-GB" dirty="0"/>
              <a:t> Process</a:t>
            </a:r>
          </a:p>
        </p:txBody>
      </p:sp>
      <p:sp>
        <p:nvSpPr>
          <p:cNvPr id="11" name="Text Placeholder 10">
            <a:extLst>
              <a:ext uri="{FF2B5EF4-FFF2-40B4-BE49-F238E27FC236}">
                <a16:creationId xmlns:a16="http://schemas.microsoft.com/office/drawing/2014/main" id="{7F247A08-A350-EF44-9F10-FC72B5466602}"/>
              </a:ext>
            </a:extLst>
          </p:cNvPr>
          <p:cNvSpPr>
            <a:spLocks noGrp="1"/>
          </p:cNvSpPr>
          <p:nvPr>
            <p:ph type="body" sz="quarter" idx="23"/>
          </p:nvPr>
        </p:nvSpPr>
        <p:spPr>
          <a:xfrm>
            <a:off x="6367054" y="5131299"/>
            <a:ext cx="2129245" cy="369332"/>
          </a:xfrm>
        </p:spPr>
        <p:txBody>
          <a:bodyPr vert="horz" lIns="0" tIns="0" rIns="0" bIns="0" rtlCol="0" anchor="t">
            <a:noAutofit/>
          </a:bodyPr>
          <a:lstStyle/>
          <a:p>
            <a:r>
              <a:rPr lang="en-IN" dirty="0"/>
              <a:t>Critical Insights and Results.</a:t>
            </a:r>
          </a:p>
          <a:p>
            <a:r>
              <a:rPr lang="en-GB" dirty="0"/>
              <a:t>.</a:t>
            </a:r>
          </a:p>
        </p:txBody>
      </p:sp>
      <p:sp>
        <p:nvSpPr>
          <p:cNvPr id="12" name="Text Placeholder 11">
            <a:extLst>
              <a:ext uri="{FF2B5EF4-FFF2-40B4-BE49-F238E27FC236}">
                <a16:creationId xmlns:a16="http://schemas.microsoft.com/office/drawing/2014/main" id="{B115086E-2AC3-4F4D-8F85-104CFA64FECF}"/>
              </a:ext>
            </a:extLst>
          </p:cNvPr>
          <p:cNvSpPr>
            <a:spLocks noGrp="1"/>
          </p:cNvSpPr>
          <p:nvPr>
            <p:ph type="body" sz="quarter" idx="24"/>
          </p:nvPr>
        </p:nvSpPr>
        <p:spPr>
          <a:xfrm>
            <a:off x="6367054" y="4522803"/>
            <a:ext cx="2129245" cy="369332"/>
          </a:xfrm>
        </p:spPr>
        <p:txBody>
          <a:bodyPr rtlCol="0"/>
          <a:lstStyle/>
          <a:p>
            <a:pPr rtl="0"/>
            <a:r>
              <a:rPr lang="en-GB" dirty="0"/>
              <a:t>05. Key Findings</a:t>
            </a:r>
          </a:p>
        </p:txBody>
      </p:sp>
      <p:sp>
        <p:nvSpPr>
          <p:cNvPr id="14" name="Footer Placeholder 13">
            <a:extLst>
              <a:ext uri="{FF2B5EF4-FFF2-40B4-BE49-F238E27FC236}">
                <a16:creationId xmlns:a16="http://schemas.microsoft.com/office/drawing/2014/main" id="{C0BAE34D-BF83-084B-A10C-EB85694B9ACF}"/>
              </a:ext>
            </a:extLst>
          </p:cNvPr>
          <p:cNvSpPr>
            <a:spLocks noGrp="1"/>
          </p:cNvSpPr>
          <p:nvPr>
            <p:ph type="ftr" sz="quarter" idx="26"/>
          </p:nvPr>
        </p:nvSpPr>
        <p:spPr>
          <a:xfrm>
            <a:off x="1494790" y="6332220"/>
            <a:ext cx="1497330" cy="247651"/>
          </a:xfrm>
        </p:spPr>
        <p:txBody>
          <a:bodyPr rtlCol="0"/>
          <a:lstStyle/>
          <a:p>
            <a:r>
              <a:rPr lang="en-GB" dirty="0"/>
              <a:t>BDM Capstone Project</a:t>
            </a:r>
            <a:endParaRPr lang="en-US" dirty="0"/>
          </a:p>
        </p:txBody>
      </p:sp>
      <p:sp>
        <p:nvSpPr>
          <p:cNvPr id="15" name="Slide Number Placeholder 14">
            <a:extLst>
              <a:ext uri="{FF2B5EF4-FFF2-40B4-BE49-F238E27FC236}">
                <a16:creationId xmlns:a16="http://schemas.microsoft.com/office/drawing/2014/main" id="{329469AE-B59A-AA41-9085-106D011808F5}"/>
              </a:ext>
            </a:extLst>
          </p:cNvPr>
          <p:cNvSpPr>
            <a:spLocks noGrp="1"/>
          </p:cNvSpPr>
          <p:nvPr>
            <p:ph type="sldNum" sz="quarter" idx="27"/>
          </p:nvPr>
        </p:nvSpPr>
        <p:spPr>
          <a:xfrm>
            <a:off x="971550" y="6332220"/>
            <a:ext cx="523240" cy="247651"/>
          </a:xfrm>
        </p:spPr>
        <p:txBody>
          <a:bodyPr rtlCol="0"/>
          <a:lstStyle/>
          <a:p>
            <a:pPr rtl="0"/>
            <a:fld id="{294A09A9-5501-47C1-A89A-A340965A2BE2}" type="slidenum">
              <a:rPr lang="en-GB" smtClean="0"/>
              <a:pPr/>
              <a:t>2</a:t>
            </a:fld>
            <a:endParaRPr lang="en-GB" dirty="0"/>
          </a:p>
        </p:txBody>
      </p:sp>
      <p:sp>
        <p:nvSpPr>
          <p:cNvPr id="45" name="Date Placeholder 3">
            <a:extLst>
              <a:ext uri="{FF2B5EF4-FFF2-40B4-BE49-F238E27FC236}">
                <a16:creationId xmlns:a16="http://schemas.microsoft.com/office/drawing/2014/main" id="{3B4069FE-8724-4CE0-9B3C-6D59B9B5FD9D}"/>
              </a:ext>
            </a:extLst>
          </p:cNvPr>
          <p:cNvSpPr txBox="1">
            <a:spLocks/>
          </p:cNvSpPr>
          <p:nvPr/>
        </p:nvSpPr>
        <p:spPr>
          <a:xfrm>
            <a:off x="2961298" y="6332221"/>
            <a:ext cx="1313180" cy="171322"/>
          </a:xfrm>
          <a:prstGeom prst="rect">
            <a:avLst/>
          </a:prstGeom>
        </p:spPr>
        <p:txBody>
          <a:bodyPr vert="horz" lIns="0" tIns="0" rIns="0" bIns="0" rtlCol="0" anchor="t" anchorCtr="0"/>
          <a:lstStyle>
            <a:defPPr>
              <a:defRPr lang="en-US"/>
            </a:defPPr>
            <a:lvl1pPr marL="0" algn="l" defTabSz="914400" rtl="0" eaLnBrk="1" latinLnBrk="0" hangingPunct="1">
              <a:defRPr sz="1100" b="0" i="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 July, 2025</a:t>
            </a:r>
            <a:endParaRPr lang="en-US" dirty="0"/>
          </a:p>
        </p:txBody>
      </p:sp>
      <p:pic>
        <p:nvPicPr>
          <p:cNvPr id="16" name="Picture 15">
            <a:extLst>
              <a:ext uri="{FF2B5EF4-FFF2-40B4-BE49-F238E27FC236}">
                <a16:creationId xmlns:a16="http://schemas.microsoft.com/office/drawing/2014/main" id="{0410116A-805B-4F69-8668-B796BF8FB9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56937" y="4039109"/>
            <a:ext cx="2313181" cy="369332"/>
          </a:xfrm>
          <a:prstGeom prst="rect">
            <a:avLst/>
          </a:prstGeom>
        </p:spPr>
      </p:pic>
      <p:sp>
        <p:nvSpPr>
          <p:cNvPr id="13" name="TextBox 12">
            <a:extLst>
              <a:ext uri="{FF2B5EF4-FFF2-40B4-BE49-F238E27FC236}">
                <a16:creationId xmlns:a16="http://schemas.microsoft.com/office/drawing/2014/main" id="{4D4D4113-27C7-4EEF-868F-D2E54A9B130E}"/>
              </a:ext>
            </a:extLst>
          </p:cNvPr>
          <p:cNvSpPr txBox="1"/>
          <p:nvPr/>
        </p:nvSpPr>
        <p:spPr>
          <a:xfrm>
            <a:off x="9056937" y="4430625"/>
            <a:ext cx="2465798" cy="369332"/>
          </a:xfrm>
          <a:prstGeom prst="rect">
            <a:avLst/>
          </a:prstGeom>
          <a:noFill/>
        </p:spPr>
        <p:txBody>
          <a:bodyPr wrap="square" rtlCol="0">
            <a:spAutoFit/>
          </a:bodyPr>
          <a:lstStyle/>
          <a:p>
            <a:r>
              <a:rPr lang="en-IN" dirty="0">
                <a:solidFill>
                  <a:srgbClr val="7CA655"/>
                </a:solidFill>
                <a:latin typeface="+mj-lt"/>
              </a:rPr>
              <a:t>06. Recommendations</a:t>
            </a:r>
          </a:p>
        </p:txBody>
      </p:sp>
      <p:sp>
        <p:nvSpPr>
          <p:cNvPr id="17" name="TextBox 16">
            <a:extLst>
              <a:ext uri="{FF2B5EF4-FFF2-40B4-BE49-F238E27FC236}">
                <a16:creationId xmlns:a16="http://schemas.microsoft.com/office/drawing/2014/main" id="{67C8F695-E5B9-48CA-B1F9-AD49C5F3BF73}"/>
              </a:ext>
            </a:extLst>
          </p:cNvPr>
          <p:cNvSpPr txBox="1"/>
          <p:nvPr/>
        </p:nvSpPr>
        <p:spPr>
          <a:xfrm>
            <a:off x="9105902" y="5044611"/>
            <a:ext cx="2416833" cy="523220"/>
          </a:xfrm>
          <a:prstGeom prst="rect">
            <a:avLst/>
          </a:prstGeom>
          <a:noFill/>
        </p:spPr>
        <p:txBody>
          <a:bodyPr wrap="square" rtlCol="0">
            <a:spAutoFit/>
          </a:bodyPr>
          <a:lstStyle/>
          <a:p>
            <a:r>
              <a:rPr lang="en-US" sz="1400" dirty="0">
                <a:solidFill>
                  <a:schemeClr val="bg1"/>
                </a:solidFill>
              </a:rPr>
              <a:t>Recommendations to the organization after analysis.</a:t>
            </a:r>
            <a:endParaRPr lang="en-IN" sz="1400" dirty="0">
              <a:solidFill>
                <a:schemeClr val="bg1"/>
              </a:solidFill>
            </a:endParaRPr>
          </a:p>
        </p:txBody>
      </p:sp>
    </p:spTree>
    <p:extLst>
      <p:ext uri="{BB962C8B-B14F-4D97-AF65-F5344CB8AC3E}">
        <p14:creationId xmlns:p14="http://schemas.microsoft.com/office/powerpoint/2010/main" val="289860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53F689-2E51-BF4F-AE47-7CEB7CC4C52A}"/>
              </a:ext>
            </a:extLst>
          </p:cNvPr>
          <p:cNvSpPr>
            <a:spLocks noGrp="1"/>
          </p:cNvSpPr>
          <p:nvPr>
            <p:ph type="title"/>
          </p:nvPr>
        </p:nvSpPr>
        <p:spPr/>
        <p:txBody>
          <a:bodyPr rtlCol="0"/>
          <a:lstStyle/>
          <a:p>
            <a:r>
              <a:rPr lang="en-GB" b="0" dirty="0">
                <a:latin typeface="Calibri"/>
                <a:ea typeface="Calibri"/>
                <a:cs typeface="Calibri"/>
              </a:rPr>
              <a:t>About the Business</a:t>
            </a:r>
            <a:endParaRPr lang="en-US" dirty="0"/>
          </a:p>
        </p:txBody>
      </p:sp>
      <p:sp>
        <p:nvSpPr>
          <p:cNvPr id="4" name="Text Placeholder 3">
            <a:extLst>
              <a:ext uri="{FF2B5EF4-FFF2-40B4-BE49-F238E27FC236}">
                <a16:creationId xmlns:a16="http://schemas.microsoft.com/office/drawing/2014/main" id="{A17F80A9-6337-524E-AC61-32C5AFEE8E6D}"/>
              </a:ext>
            </a:extLst>
          </p:cNvPr>
          <p:cNvSpPr>
            <a:spLocks noGrp="1"/>
          </p:cNvSpPr>
          <p:nvPr>
            <p:ph type="body" sz="quarter" idx="11"/>
          </p:nvPr>
        </p:nvSpPr>
        <p:spPr>
          <a:xfrm>
            <a:off x="1068512" y="2167847"/>
            <a:ext cx="10130430" cy="3503488"/>
          </a:xfrm>
        </p:spPr>
        <p:txBody>
          <a:bodyPr vert="horz" lIns="0" tIns="0" rIns="0" bIns="0" rtlCol="0" anchor="t">
            <a:noAutofit/>
          </a:bodyPr>
          <a:lstStyle/>
          <a:p>
            <a:pPr algn="just"/>
            <a:r>
              <a:rPr lang="en-US" sz="1850" dirty="0">
                <a:latin typeface="Calibri" panose="020F0502020204030204" pitchFamily="34" charset="0"/>
                <a:ea typeface="Calibri" panose="020F0502020204030204" pitchFamily="34" charset="0"/>
                <a:cs typeface="Calibri" panose="020F0502020204030204" pitchFamily="34" charset="0"/>
              </a:rPr>
              <a:t>Rakhi Innovative Venture is a Kanpur-based B2B trading firm, that has been operating for over 5 years, engaged in the supply of printing materials, office stationery, and general-purpose goods. The firm primarily serves government institutions and public-sector departments, which contribute to nearly 65–70% of its business. The remaining share comes from private clients including small businesses, and educational institutions.</a:t>
            </a:r>
          </a:p>
          <a:p>
            <a:pPr algn="just"/>
            <a:r>
              <a:rPr lang="en-US" sz="1850" dirty="0">
                <a:latin typeface="Calibri" panose="020F0502020204030204" pitchFamily="34" charset="0"/>
                <a:ea typeface="Calibri" panose="020F0502020204030204" pitchFamily="34" charset="0"/>
                <a:cs typeface="Calibri" panose="020F0502020204030204" pitchFamily="34" charset="0"/>
              </a:rPr>
              <a:t>Operating from two offices for improved efficiency, the business has built its reputation on trust, timely fulfillment, and competitive pricing. With a small team led by the owner and supported by two staff members, Rakhi Innovative Venture handles procurement, inventory, and client servicing through relationship-driven strategies.</a:t>
            </a:r>
          </a:p>
        </p:txBody>
      </p:sp>
      <p:sp>
        <p:nvSpPr>
          <p:cNvPr id="7" name="Slide Number Placeholder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en-GB" smtClean="0"/>
              <a:pPr/>
              <a:t>3</a:t>
            </a:fld>
            <a:endParaRPr lang="en-GB" dirty="0"/>
          </a:p>
        </p:txBody>
      </p:sp>
      <p:sp>
        <p:nvSpPr>
          <p:cNvPr id="6" name="Footer Placeholder 5">
            <a:extLst>
              <a:ext uri="{FF2B5EF4-FFF2-40B4-BE49-F238E27FC236}">
                <a16:creationId xmlns:a16="http://schemas.microsoft.com/office/drawing/2014/main" id="{66F3960A-D260-8445-A153-0B674474CEBD}"/>
              </a:ext>
            </a:extLst>
          </p:cNvPr>
          <p:cNvSpPr>
            <a:spLocks noGrp="1"/>
          </p:cNvSpPr>
          <p:nvPr>
            <p:ph type="ftr" sz="quarter" idx="15"/>
          </p:nvPr>
        </p:nvSpPr>
        <p:spPr>
          <a:xfrm>
            <a:off x="1494790" y="6332220"/>
            <a:ext cx="1497330" cy="247651"/>
          </a:xfrm>
        </p:spPr>
        <p:txBody>
          <a:bodyPr rtlCol="0"/>
          <a:lstStyle/>
          <a:p>
            <a:r>
              <a:rPr lang="en-GB" dirty="0"/>
              <a:t>BDM Capstone Project</a:t>
            </a:r>
            <a:endParaRPr lang="en-US" dirty="0"/>
          </a:p>
        </p:txBody>
      </p:sp>
      <p:sp>
        <p:nvSpPr>
          <p:cNvPr id="8" name="Date Placeholder 3">
            <a:extLst>
              <a:ext uri="{FF2B5EF4-FFF2-40B4-BE49-F238E27FC236}">
                <a16:creationId xmlns:a16="http://schemas.microsoft.com/office/drawing/2014/main" id="{2DAD51F7-3210-479B-ADF0-963FBC7E32BD}"/>
              </a:ext>
            </a:extLst>
          </p:cNvPr>
          <p:cNvSpPr txBox="1">
            <a:spLocks/>
          </p:cNvSpPr>
          <p:nvPr/>
        </p:nvSpPr>
        <p:spPr>
          <a:xfrm>
            <a:off x="3009244" y="6332220"/>
            <a:ext cx="1313180" cy="247651"/>
          </a:xfrm>
          <a:prstGeom prst="rect">
            <a:avLst/>
          </a:prstGeom>
        </p:spPr>
        <p:txBody>
          <a:bodyPr vert="horz" lIns="0" tIns="0" rIns="0" bIns="0" rtlCol="0" anchor="t" anchorCtr="0"/>
          <a:lstStyle>
            <a:defPPr>
              <a:defRPr lang="en-US"/>
            </a:defPPr>
            <a:lvl1pPr marL="0" algn="l" defTabSz="914400" rtl="0" eaLnBrk="1" latinLnBrk="0" hangingPunct="1">
              <a:defRPr sz="1100" b="0" i="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July, 2025</a:t>
            </a:r>
            <a:endParaRPr lang="en-US" dirty="0"/>
          </a:p>
        </p:txBody>
      </p:sp>
    </p:spTree>
    <p:extLst>
      <p:ext uri="{BB962C8B-B14F-4D97-AF65-F5344CB8AC3E}">
        <p14:creationId xmlns:p14="http://schemas.microsoft.com/office/powerpoint/2010/main" val="391246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53F689-2E51-BF4F-AE47-7CEB7CC4C52A}"/>
              </a:ext>
            </a:extLst>
          </p:cNvPr>
          <p:cNvSpPr>
            <a:spLocks noGrp="1"/>
          </p:cNvSpPr>
          <p:nvPr>
            <p:ph type="title"/>
          </p:nvPr>
        </p:nvSpPr>
        <p:spPr/>
        <p:txBody>
          <a:bodyPr rtlCol="0"/>
          <a:lstStyle/>
          <a:p>
            <a:r>
              <a:rPr lang="en-GB" b="0" dirty="0">
                <a:latin typeface="Calibri"/>
                <a:ea typeface="Calibri"/>
                <a:cs typeface="Calibri"/>
              </a:rPr>
              <a:t>Challenges faced</a:t>
            </a:r>
          </a:p>
        </p:txBody>
      </p:sp>
      <p:sp>
        <p:nvSpPr>
          <p:cNvPr id="4" name="Text Placeholder 3">
            <a:extLst>
              <a:ext uri="{FF2B5EF4-FFF2-40B4-BE49-F238E27FC236}">
                <a16:creationId xmlns:a16="http://schemas.microsoft.com/office/drawing/2014/main" id="{A17F80A9-6337-524E-AC61-32C5AFEE8E6D}"/>
              </a:ext>
            </a:extLst>
          </p:cNvPr>
          <p:cNvSpPr>
            <a:spLocks noGrp="1"/>
          </p:cNvSpPr>
          <p:nvPr>
            <p:ph type="body" sz="quarter" idx="11"/>
          </p:nvPr>
        </p:nvSpPr>
        <p:spPr>
          <a:xfrm>
            <a:off x="1109609" y="2374980"/>
            <a:ext cx="10356778" cy="3008678"/>
          </a:xfrm>
        </p:spPr>
        <p:txBody>
          <a:bodyPr vert="horz" lIns="0" tIns="0" rIns="0" bIns="0" rtlCol="0" anchor="t">
            <a:noAutofit/>
          </a:bodyPr>
          <a:lstStyle/>
          <a:p>
            <a:pPr marL="285750" indent="-285750" algn="just">
              <a:buFont typeface="Arial"/>
              <a:buChar char="•"/>
            </a:pPr>
            <a:r>
              <a:rPr lang="en-US" sz="2000" b="1" dirty="0">
                <a:ea typeface="+mn-lt"/>
                <a:cs typeface="+mn-lt"/>
              </a:rPr>
              <a:t>Supply Chain Inefficiencies: </a:t>
            </a:r>
            <a:r>
              <a:rPr lang="en-US" sz="2000" dirty="0">
                <a:ea typeface="+mn-lt"/>
                <a:cs typeface="+mn-lt"/>
              </a:rPr>
              <a:t>Overstocking and stockouts due to poor inventory tracking, along with dependence on limited suppliers, leads to delayed procurement and missed order opportunities.</a:t>
            </a:r>
            <a:endParaRPr lang="en-GB" sz="2000" dirty="0">
              <a:ea typeface="+mn-lt"/>
              <a:cs typeface="+mn-lt"/>
            </a:endParaRPr>
          </a:p>
          <a:p>
            <a:pPr marL="285750" indent="-285750" algn="just">
              <a:buFont typeface="Arial"/>
              <a:buChar char="•"/>
            </a:pPr>
            <a:r>
              <a:rPr lang="en-US" sz="2000" b="1" dirty="0">
                <a:ea typeface="+mn-lt"/>
                <a:cs typeface="+mn-lt"/>
              </a:rPr>
              <a:t>Market Competition: </a:t>
            </a:r>
            <a:r>
              <a:rPr lang="en-US" sz="2000" dirty="0">
                <a:ea typeface="+mn-lt"/>
                <a:cs typeface="+mn-lt"/>
              </a:rPr>
              <a:t>The firm faces intense competition from lower-priced vendors. Lack of digital presence and limited product diversification reduces its ability to attract and retain clients.</a:t>
            </a:r>
          </a:p>
          <a:p>
            <a:pPr marL="285750" indent="-285750" algn="just">
              <a:buFont typeface="Arial"/>
              <a:buChar char="•"/>
            </a:pPr>
            <a:r>
              <a:rPr lang="en-US" sz="2000" b="1" dirty="0">
                <a:ea typeface="Calibri"/>
                <a:cs typeface="Calibri"/>
              </a:rPr>
              <a:t>Cash Flow Challenges: </a:t>
            </a:r>
            <a:r>
              <a:rPr lang="en-US" sz="2000" dirty="0">
                <a:ea typeface="Calibri"/>
                <a:cs typeface="Calibri"/>
              </a:rPr>
              <a:t>Delayed payments especially from government clients combined with irregular sales cycles create liquidity issues, making it difficult to manage day-to-day operations smoothly.</a:t>
            </a:r>
            <a:endParaRPr lang="en-GB" sz="2000" dirty="0">
              <a:latin typeface="Franklin Gothic Book"/>
              <a:ea typeface="Calibri"/>
              <a:cs typeface="Calibri"/>
            </a:endParaRPr>
          </a:p>
          <a:p>
            <a:pPr algn="just"/>
            <a:endParaRPr lang="en-US" dirty="0">
              <a:latin typeface="Calibri"/>
              <a:ea typeface="Calibri"/>
              <a:cs typeface="Calibri"/>
            </a:endParaRPr>
          </a:p>
          <a:p>
            <a:pPr algn="just"/>
            <a:endParaRPr lang="en-GB" dirty="0"/>
          </a:p>
          <a:p>
            <a:pPr algn="just" rtl="0"/>
            <a:endParaRPr lang="en-GB" dirty="0"/>
          </a:p>
        </p:txBody>
      </p:sp>
      <p:sp>
        <p:nvSpPr>
          <p:cNvPr id="7" name="Slide Number Placeholder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en-GB" smtClean="0"/>
              <a:pPr rtl="0"/>
              <a:t>4</a:t>
            </a:fld>
            <a:endParaRPr lang="en-GB" dirty="0"/>
          </a:p>
        </p:txBody>
      </p:sp>
      <p:sp>
        <p:nvSpPr>
          <p:cNvPr id="6" name="Footer Placeholder 5">
            <a:extLst>
              <a:ext uri="{FF2B5EF4-FFF2-40B4-BE49-F238E27FC236}">
                <a16:creationId xmlns:a16="http://schemas.microsoft.com/office/drawing/2014/main" id="{66F3960A-D260-8445-A153-0B674474CEBD}"/>
              </a:ext>
            </a:extLst>
          </p:cNvPr>
          <p:cNvSpPr>
            <a:spLocks noGrp="1"/>
          </p:cNvSpPr>
          <p:nvPr>
            <p:ph type="ftr" sz="quarter" idx="15"/>
          </p:nvPr>
        </p:nvSpPr>
        <p:spPr>
          <a:xfrm>
            <a:off x="1494790" y="6332220"/>
            <a:ext cx="1497330" cy="247651"/>
          </a:xfrm>
        </p:spPr>
        <p:txBody>
          <a:bodyPr rtlCol="0"/>
          <a:lstStyle/>
          <a:p>
            <a:r>
              <a:rPr lang="en-GB" dirty="0"/>
              <a:t>BDM Capstone Project</a:t>
            </a:r>
            <a:endParaRPr lang="en-US" dirty="0"/>
          </a:p>
        </p:txBody>
      </p:sp>
      <p:sp>
        <p:nvSpPr>
          <p:cNvPr id="8" name="Date Placeholder 3">
            <a:extLst>
              <a:ext uri="{FF2B5EF4-FFF2-40B4-BE49-F238E27FC236}">
                <a16:creationId xmlns:a16="http://schemas.microsoft.com/office/drawing/2014/main" id="{2DAD51F7-3210-479B-ADF0-963FBC7E32BD}"/>
              </a:ext>
            </a:extLst>
          </p:cNvPr>
          <p:cNvSpPr txBox="1">
            <a:spLocks/>
          </p:cNvSpPr>
          <p:nvPr/>
        </p:nvSpPr>
        <p:spPr>
          <a:xfrm>
            <a:off x="3009244" y="6332220"/>
            <a:ext cx="1313180" cy="247651"/>
          </a:xfrm>
          <a:prstGeom prst="rect">
            <a:avLst/>
          </a:prstGeom>
        </p:spPr>
        <p:txBody>
          <a:bodyPr vert="horz" lIns="0" tIns="0" rIns="0" bIns="0" rtlCol="0" anchor="t" anchorCtr="0"/>
          <a:lstStyle>
            <a:defPPr>
              <a:defRPr lang="en-US"/>
            </a:defPPr>
            <a:lvl1pPr marL="0" algn="l" defTabSz="914400" rtl="0" eaLnBrk="1" latinLnBrk="0" hangingPunct="1">
              <a:defRPr sz="1100" b="0" i="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July, 2025</a:t>
            </a:r>
            <a:endParaRPr lang="en-US" dirty="0"/>
          </a:p>
        </p:txBody>
      </p:sp>
    </p:spTree>
    <p:extLst>
      <p:ext uri="{BB962C8B-B14F-4D97-AF65-F5344CB8AC3E}">
        <p14:creationId xmlns:p14="http://schemas.microsoft.com/office/powerpoint/2010/main" val="40494912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53F689-2E51-BF4F-AE47-7CEB7CC4C52A}"/>
              </a:ext>
            </a:extLst>
          </p:cNvPr>
          <p:cNvSpPr>
            <a:spLocks noGrp="1"/>
          </p:cNvSpPr>
          <p:nvPr>
            <p:ph type="title"/>
          </p:nvPr>
        </p:nvSpPr>
        <p:spPr/>
        <p:txBody>
          <a:bodyPr rtlCol="0"/>
          <a:lstStyle/>
          <a:p>
            <a:r>
              <a:rPr lang="en-GB" b="0" dirty="0">
                <a:latin typeface="Calibri"/>
                <a:ea typeface="Calibri"/>
                <a:cs typeface="Calibri"/>
              </a:rPr>
              <a:t>Data Collection</a:t>
            </a:r>
          </a:p>
        </p:txBody>
      </p:sp>
      <p:sp>
        <p:nvSpPr>
          <p:cNvPr id="4" name="Text Placeholder 3">
            <a:extLst>
              <a:ext uri="{FF2B5EF4-FFF2-40B4-BE49-F238E27FC236}">
                <a16:creationId xmlns:a16="http://schemas.microsoft.com/office/drawing/2014/main" id="{A17F80A9-6337-524E-AC61-32C5AFEE8E6D}"/>
              </a:ext>
            </a:extLst>
          </p:cNvPr>
          <p:cNvSpPr>
            <a:spLocks noGrp="1"/>
          </p:cNvSpPr>
          <p:nvPr>
            <p:ph type="body" sz="quarter" idx="11"/>
          </p:nvPr>
        </p:nvSpPr>
        <p:spPr>
          <a:xfrm>
            <a:off x="961060" y="2085654"/>
            <a:ext cx="10545996" cy="3390472"/>
          </a:xfrm>
        </p:spPr>
        <p:txBody>
          <a:bodyPr vert="horz" lIns="0" tIns="0" rIns="0" bIns="0" rtlCol="0" anchor="t">
            <a:noAutofit/>
          </a:bodyPr>
          <a:lstStyle/>
          <a:p>
            <a:pPr marL="285750" indent="-285750" algn="just">
              <a:buFont typeface="Arial"/>
              <a:buChar char="•"/>
            </a:pPr>
            <a:r>
              <a:rPr lang="en-US" sz="1800" dirty="0"/>
              <a:t>Data was collected from Rakhi Innovative Venture through few visits between January and April 2025, covering the period from April 2022 to March 2025. Sources included Tally software exports, manual digital registers, and informal interviews with the operational manager. The dataset includes sales, purchases, inventory, product categories, and client types.</a:t>
            </a:r>
          </a:p>
          <a:p>
            <a:pPr marL="285750" indent="-285750" algn="just">
              <a:buFont typeface="Arial"/>
              <a:buChar char="•"/>
            </a:pPr>
            <a:r>
              <a:rPr lang="en-US" sz="1800" b="1" dirty="0">
                <a:ea typeface="Calibri"/>
                <a:cs typeface="Calibri"/>
              </a:rPr>
              <a:t>Data Preprocessing: </a:t>
            </a:r>
            <a:r>
              <a:rPr lang="en-US" sz="1800" dirty="0">
                <a:ea typeface="Calibri"/>
                <a:cs typeface="Calibri"/>
              </a:rPr>
              <a:t>The data was cleaned by removing duplicates, correcting formats, and standardizing units (e.g., pcs, kg). Products were categorized into six segments: Printing, Stationery, Electronics, Household, Decor, and Construction. Cleaned data was organized into Excel sheets. To summarize and interpret the data, descriptive statistics were applied using Excel formulas. Key measures included mean (average quantity sold per order), mode (most frequently sold quantity), standard deviation (variation in order sizes), average sales and purchase values, profit margins, and maximum quantity sold in a single order.</a:t>
            </a:r>
            <a:endParaRPr lang="en-GB" sz="1800" dirty="0">
              <a:ea typeface="Calibri"/>
              <a:cs typeface="Calibri"/>
            </a:endParaRPr>
          </a:p>
          <a:p>
            <a:endParaRPr lang="en-GB" sz="1800" b="1" dirty="0">
              <a:latin typeface="Calibri"/>
              <a:ea typeface="Calibri"/>
              <a:cs typeface="Calibri"/>
            </a:endParaRPr>
          </a:p>
        </p:txBody>
      </p:sp>
      <p:sp>
        <p:nvSpPr>
          <p:cNvPr id="7" name="Slide Number Placeholder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en-GB" smtClean="0"/>
              <a:pPr rtl="0"/>
              <a:t>5</a:t>
            </a:fld>
            <a:endParaRPr lang="en-GB" dirty="0"/>
          </a:p>
        </p:txBody>
      </p:sp>
      <p:sp>
        <p:nvSpPr>
          <p:cNvPr id="6" name="Footer Placeholder 5">
            <a:extLst>
              <a:ext uri="{FF2B5EF4-FFF2-40B4-BE49-F238E27FC236}">
                <a16:creationId xmlns:a16="http://schemas.microsoft.com/office/drawing/2014/main" id="{66F3960A-D260-8445-A153-0B674474CEBD}"/>
              </a:ext>
            </a:extLst>
          </p:cNvPr>
          <p:cNvSpPr>
            <a:spLocks noGrp="1"/>
          </p:cNvSpPr>
          <p:nvPr>
            <p:ph type="ftr" sz="quarter" idx="15"/>
          </p:nvPr>
        </p:nvSpPr>
        <p:spPr>
          <a:xfrm>
            <a:off x="1494790" y="6332220"/>
            <a:ext cx="1497330" cy="247651"/>
          </a:xfrm>
        </p:spPr>
        <p:txBody>
          <a:bodyPr rtlCol="0"/>
          <a:lstStyle/>
          <a:p>
            <a:r>
              <a:rPr lang="en-GB" dirty="0"/>
              <a:t>BDM Capstone Project</a:t>
            </a:r>
            <a:endParaRPr lang="en-US" dirty="0"/>
          </a:p>
        </p:txBody>
      </p:sp>
      <p:sp>
        <p:nvSpPr>
          <p:cNvPr id="8" name="Date Placeholder 3">
            <a:extLst>
              <a:ext uri="{FF2B5EF4-FFF2-40B4-BE49-F238E27FC236}">
                <a16:creationId xmlns:a16="http://schemas.microsoft.com/office/drawing/2014/main" id="{2DAD51F7-3210-479B-ADF0-963FBC7E32BD}"/>
              </a:ext>
            </a:extLst>
          </p:cNvPr>
          <p:cNvSpPr txBox="1">
            <a:spLocks/>
          </p:cNvSpPr>
          <p:nvPr/>
        </p:nvSpPr>
        <p:spPr>
          <a:xfrm>
            <a:off x="3009244" y="6332220"/>
            <a:ext cx="1313180" cy="247651"/>
          </a:xfrm>
          <a:prstGeom prst="rect">
            <a:avLst/>
          </a:prstGeom>
        </p:spPr>
        <p:txBody>
          <a:bodyPr vert="horz" lIns="0" tIns="0" rIns="0" bIns="0" rtlCol="0" anchor="t" anchorCtr="0"/>
          <a:lstStyle>
            <a:defPPr>
              <a:defRPr lang="en-US"/>
            </a:defPPr>
            <a:lvl1pPr marL="0" algn="l" defTabSz="914400" rtl="0" eaLnBrk="1" latinLnBrk="0" hangingPunct="1">
              <a:defRPr sz="1100" b="0" i="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July, 2025</a:t>
            </a:r>
            <a:endParaRPr lang="en-US" dirty="0"/>
          </a:p>
        </p:txBody>
      </p:sp>
    </p:spTree>
    <p:extLst>
      <p:ext uri="{BB962C8B-B14F-4D97-AF65-F5344CB8AC3E}">
        <p14:creationId xmlns:p14="http://schemas.microsoft.com/office/powerpoint/2010/main" val="3952634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53F689-2E51-BF4F-AE47-7CEB7CC4C52A}"/>
              </a:ext>
            </a:extLst>
          </p:cNvPr>
          <p:cNvSpPr>
            <a:spLocks noGrp="1"/>
          </p:cNvSpPr>
          <p:nvPr>
            <p:ph type="title"/>
          </p:nvPr>
        </p:nvSpPr>
        <p:spPr>
          <a:xfrm>
            <a:off x="973792" y="664140"/>
            <a:ext cx="9142246" cy="649939"/>
          </a:xfrm>
        </p:spPr>
        <p:txBody>
          <a:bodyPr rtlCol="0">
            <a:normAutofit/>
          </a:bodyPr>
          <a:lstStyle/>
          <a:p>
            <a:r>
              <a:rPr lang="en-GB" b="0" dirty="0">
                <a:latin typeface="Calibri"/>
                <a:ea typeface="Calibri"/>
                <a:cs typeface="Calibri"/>
              </a:rPr>
              <a:t>Analysis Process</a:t>
            </a:r>
          </a:p>
        </p:txBody>
      </p:sp>
      <p:sp>
        <p:nvSpPr>
          <p:cNvPr id="7" name="Slide Number Placeholder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en-GB" smtClean="0"/>
              <a:pPr rtl="0"/>
              <a:t>6</a:t>
            </a:fld>
            <a:endParaRPr lang="en-GB" dirty="0"/>
          </a:p>
        </p:txBody>
      </p:sp>
      <p:sp>
        <p:nvSpPr>
          <p:cNvPr id="6" name="Footer Placeholder 5">
            <a:extLst>
              <a:ext uri="{FF2B5EF4-FFF2-40B4-BE49-F238E27FC236}">
                <a16:creationId xmlns:a16="http://schemas.microsoft.com/office/drawing/2014/main" id="{66F3960A-D260-8445-A153-0B674474CEBD}"/>
              </a:ext>
            </a:extLst>
          </p:cNvPr>
          <p:cNvSpPr>
            <a:spLocks noGrp="1"/>
          </p:cNvSpPr>
          <p:nvPr>
            <p:ph type="ftr" sz="quarter" idx="15"/>
          </p:nvPr>
        </p:nvSpPr>
        <p:spPr>
          <a:xfrm>
            <a:off x="1494790" y="6332220"/>
            <a:ext cx="1497330" cy="247651"/>
          </a:xfrm>
        </p:spPr>
        <p:txBody>
          <a:bodyPr rtlCol="0"/>
          <a:lstStyle/>
          <a:p>
            <a:r>
              <a:rPr lang="en-GB" dirty="0"/>
              <a:t>BDM Capstone Project</a:t>
            </a:r>
            <a:endParaRPr lang="en-US" dirty="0"/>
          </a:p>
        </p:txBody>
      </p:sp>
      <p:sp>
        <p:nvSpPr>
          <p:cNvPr id="8" name="Date Placeholder 3">
            <a:extLst>
              <a:ext uri="{FF2B5EF4-FFF2-40B4-BE49-F238E27FC236}">
                <a16:creationId xmlns:a16="http://schemas.microsoft.com/office/drawing/2014/main" id="{2DAD51F7-3210-479B-ADF0-963FBC7E32BD}"/>
              </a:ext>
            </a:extLst>
          </p:cNvPr>
          <p:cNvSpPr txBox="1">
            <a:spLocks/>
          </p:cNvSpPr>
          <p:nvPr/>
        </p:nvSpPr>
        <p:spPr>
          <a:xfrm>
            <a:off x="3009244" y="6332220"/>
            <a:ext cx="1313180" cy="247651"/>
          </a:xfrm>
          <a:prstGeom prst="rect">
            <a:avLst/>
          </a:prstGeom>
        </p:spPr>
        <p:txBody>
          <a:bodyPr vert="horz" lIns="0" tIns="0" rIns="0" bIns="0" rtlCol="0" anchor="t" anchorCtr="0"/>
          <a:lstStyle>
            <a:defPPr>
              <a:defRPr lang="en-US"/>
            </a:defPPr>
            <a:lvl1pPr marL="0" algn="l" defTabSz="914400" rtl="0" eaLnBrk="1" latinLnBrk="0" hangingPunct="1">
              <a:defRPr sz="1100" b="0" i="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July, 2025</a:t>
            </a:r>
            <a:endParaRPr lang="en-US" dirty="0"/>
          </a:p>
        </p:txBody>
      </p:sp>
      <p:sp>
        <p:nvSpPr>
          <p:cNvPr id="5" name="TextBox 4">
            <a:extLst>
              <a:ext uri="{FF2B5EF4-FFF2-40B4-BE49-F238E27FC236}">
                <a16:creationId xmlns:a16="http://schemas.microsoft.com/office/drawing/2014/main" id="{744F7232-1810-518D-342B-A89EA16B9A6C}"/>
              </a:ext>
            </a:extLst>
          </p:cNvPr>
          <p:cNvSpPr txBox="1"/>
          <p:nvPr/>
        </p:nvSpPr>
        <p:spPr>
          <a:xfrm>
            <a:off x="971551" y="2151536"/>
            <a:ext cx="4545672" cy="32932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sz="1600" dirty="0">
                <a:solidFill>
                  <a:schemeClr val="bg1"/>
                </a:solidFill>
                <a:ea typeface="+mn-lt"/>
                <a:cs typeface="+mn-lt"/>
              </a:rPr>
              <a:t>The analysis process combined both quantitative and qualitative approaches to understand the business operations.</a:t>
            </a:r>
          </a:p>
          <a:p>
            <a:pPr algn="just">
              <a:buFont typeface="Arial"/>
              <a:buChar char="•"/>
            </a:pPr>
            <a:r>
              <a:rPr lang="en-US" sz="1600" dirty="0">
                <a:solidFill>
                  <a:schemeClr val="bg1"/>
                </a:solidFill>
              </a:rPr>
              <a:t>Using cleaned datasets, I applied tools such as pivot tables, line graphs, bar charts, and conditional formatting to visualize trends in sales, purchases, stock movement, and revenue.</a:t>
            </a:r>
            <a:endParaRPr lang="en-US" sz="1600" dirty="0">
              <a:solidFill>
                <a:schemeClr val="bg1"/>
              </a:solidFill>
              <a:ea typeface="+mn-lt"/>
              <a:cs typeface="+mn-lt"/>
            </a:endParaRPr>
          </a:p>
          <a:p>
            <a:endParaRPr lang="en-GB" sz="1600" dirty="0">
              <a:solidFill>
                <a:schemeClr val="bg1"/>
              </a:solidFill>
              <a:latin typeface="Calibri"/>
              <a:ea typeface="+mn-lt"/>
              <a:cs typeface="+mn-lt"/>
            </a:endParaRPr>
          </a:p>
          <a:p>
            <a:pPr>
              <a:buFont typeface="Arial"/>
              <a:buChar char="•"/>
            </a:pPr>
            <a:r>
              <a:rPr lang="en-GB" sz="1600" b="1" dirty="0">
                <a:solidFill>
                  <a:schemeClr val="bg1"/>
                </a:solidFill>
                <a:latin typeface="Calibri"/>
                <a:ea typeface="+mn-lt"/>
                <a:cs typeface="+mn-lt"/>
              </a:rPr>
              <a:t> </a:t>
            </a:r>
            <a:r>
              <a:rPr lang="en-US" sz="1600" dirty="0">
                <a:solidFill>
                  <a:schemeClr val="bg1"/>
                </a:solidFill>
              </a:rPr>
              <a:t>The analysis included ETS forecasting for future sales, SWOT analysis for strategic insights, and identification of seasonal trends to understand demand patterns and optimize procurement and planning.</a:t>
            </a:r>
            <a:endParaRPr lang="en-GB" sz="1400" dirty="0">
              <a:solidFill>
                <a:schemeClr val="bg1"/>
              </a:solidFill>
              <a:latin typeface="Calibri"/>
              <a:ea typeface="Calibri"/>
              <a:cs typeface="Calibri"/>
            </a:endParaRPr>
          </a:p>
        </p:txBody>
      </p:sp>
      <p:pic>
        <p:nvPicPr>
          <p:cNvPr id="2" name="Picture 1">
            <a:extLst>
              <a:ext uri="{FF2B5EF4-FFF2-40B4-BE49-F238E27FC236}">
                <a16:creationId xmlns:a16="http://schemas.microsoft.com/office/drawing/2014/main" id="{818F82EC-5F03-466D-AD36-8CF892E9F6ED}"/>
              </a:ext>
            </a:extLst>
          </p:cNvPr>
          <p:cNvPicPr>
            <a:picLocks noChangeAspect="1"/>
          </p:cNvPicPr>
          <p:nvPr/>
        </p:nvPicPr>
        <p:blipFill>
          <a:blip r:embed="rId3"/>
          <a:stretch>
            <a:fillRect/>
          </a:stretch>
        </p:blipFill>
        <p:spPr>
          <a:xfrm>
            <a:off x="5650787" y="1314079"/>
            <a:ext cx="6438766" cy="5127818"/>
          </a:xfrm>
          <a:prstGeom prst="rect">
            <a:avLst/>
          </a:prstGeom>
        </p:spPr>
      </p:pic>
    </p:spTree>
    <p:extLst>
      <p:ext uri="{BB962C8B-B14F-4D97-AF65-F5344CB8AC3E}">
        <p14:creationId xmlns:p14="http://schemas.microsoft.com/office/powerpoint/2010/main" val="2115047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53F689-2E51-BF4F-AE47-7CEB7CC4C52A}"/>
              </a:ext>
            </a:extLst>
          </p:cNvPr>
          <p:cNvSpPr>
            <a:spLocks noGrp="1"/>
          </p:cNvSpPr>
          <p:nvPr>
            <p:ph type="title"/>
          </p:nvPr>
        </p:nvSpPr>
        <p:spPr>
          <a:xfrm>
            <a:off x="971550" y="292406"/>
            <a:ext cx="10779845" cy="649939"/>
          </a:xfrm>
        </p:spPr>
        <p:txBody>
          <a:bodyPr rtlCol="0">
            <a:normAutofit/>
          </a:bodyPr>
          <a:lstStyle/>
          <a:p>
            <a:r>
              <a:rPr lang="en-GB" b="0" dirty="0">
                <a:latin typeface="Calibri"/>
                <a:ea typeface="Calibri"/>
                <a:cs typeface="Calibri"/>
              </a:rPr>
              <a:t>Key Findings – Supply Chain Management</a:t>
            </a:r>
          </a:p>
        </p:txBody>
      </p:sp>
      <p:sp>
        <p:nvSpPr>
          <p:cNvPr id="7" name="Slide Number Placeholder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en-GB" smtClean="0"/>
              <a:pPr rtl="0"/>
              <a:t>7</a:t>
            </a:fld>
            <a:endParaRPr lang="en-GB" dirty="0"/>
          </a:p>
        </p:txBody>
      </p:sp>
      <p:sp>
        <p:nvSpPr>
          <p:cNvPr id="6" name="Footer Placeholder 5">
            <a:extLst>
              <a:ext uri="{FF2B5EF4-FFF2-40B4-BE49-F238E27FC236}">
                <a16:creationId xmlns:a16="http://schemas.microsoft.com/office/drawing/2014/main" id="{66F3960A-D260-8445-A153-0B674474CEBD}"/>
              </a:ext>
            </a:extLst>
          </p:cNvPr>
          <p:cNvSpPr>
            <a:spLocks noGrp="1"/>
          </p:cNvSpPr>
          <p:nvPr>
            <p:ph type="ftr" sz="quarter" idx="15"/>
          </p:nvPr>
        </p:nvSpPr>
        <p:spPr>
          <a:xfrm>
            <a:off x="1494790" y="6332220"/>
            <a:ext cx="1497330" cy="247651"/>
          </a:xfrm>
        </p:spPr>
        <p:txBody>
          <a:bodyPr rtlCol="0"/>
          <a:lstStyle/>
          <a:p>
            <a:r>
              <a:rPr lang="en-GB" dirty="0"/>
              <a:t>BDM Capstone Project</a:t>
            </a:r>
            <a:endParaRPr lang="en-US" dirty="0"/>
          </a:p>
        </p:txBody>
      </p:sp>
      <p:sp>
        <p:nvSpPr>
          <p:cNvPr id="8" name="Date Placeholder 3">
            <a:extLst>
              <a:ext uri="{FF2B5EF4-FFF2-40B4-BE49-F238E27FC236}">
                <a16:creationId xmlns:a16="http://schemas.microsoft.com/office/drawing/2014/main" id="{2DAD51F7-3210-479B-ADF0-963FBC7E32BD}"/>
              </a:ext>
            </a:extLst>
          </p:cNvPr>
          <p:cNvSpPr txBox="1">
            <a:spLocks/>
          </p:cNvSpPr>
          <p:nvPr/>
        </p:nvSpPr>
        <p:spPr>
          <a:xfrm>
            <a:off x="3009244" y="6332220"/>
            <a:ext cx="1313180" cy="247651"/>
          </a:xfrm>
          <a:prstGeom prst="rect">
            <a:avLst/>
          </a:prstGeom>
        </p:spPr>
        <p:txBody>
          <a:bodyPr vert="horz" lIns="0" tIns="0" rIns="0" bIns="0" rtlCol="0" anchor="t" anchorCtr="0"/>
          <a:lstStyle>
            <a:defPPr>
              <a:defRPr lang="en-US"/>
            </a:defPPr>
            <a:lvl1pPr marL="0" algn="l" defTabSz="914400" rtl="0" eaLnBrk="1" latinLnBrk="0" hangingPunct="1">
              <a:defRPr sz="1100" b="0" i="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July, 2025</a:t>
            </a:r>
            <a:endParaRPr lang="en-US" dirty="0"/>
          </a:p>
        </p:txBody>
      </p:sp>
      <p:sp>
        <p:nvSpPr>
          <p:cNvPr id="5" name="TextBox 4">
            <a:extLst>
              <a:ext uri="{FF2B5EF4-FFF2-40B4-BE49-F238E27FC236}">
                <a16:creationId xmlns:a16="http://schemas.microsoft.com/office/drawing/2014/main" id="{744F7232-1810-518D-342B-A89EA16B9A6C}"/>
              </a:ext>
            </a:extLst>
          </p:cNvPr>
          <p:cNvSpPr txBox="1"/>
          <p:nvPr/>
        </p:nvSpPr>
        <p:spPr>
          <a:xfrm>
            <a:off x="971549" y="2100165"/>
            <a:ext cx="4309367"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b="1" dirty="0">
                <a:solidFill>
                  <a:schemeClr val="bg1"/>
                </a:solidFill>
                <a:ea typeface="+mn-lt"/>
                <a:cs typeface="+mn-lt"/>
              </a:rPr>
              <a:t>Printing</a:t>
            </a:r>
            <a:r>
              <a:rPr lang="en-US" sz="1600" dirty="0">
                <a:solidFill>
                  <a:schemeClr val="bg1"/>
                </a:solidFill>
                <a:ea typeface="+mn-lt"/>
                <a:cs typeface="+mn-lt"/>
              </a:rPr>
              <a:t> category dominates monthly sales, showing consistent high demand throughout the period. </a:t>
            </a:r>
          </a:p>
          <a:p>
            <a:pPr marL="285750" indent="-285750">
              <a:buFont typeface="Arial"/>
              <a:buChar char="•"/>
            </a:pPr>
            <a:endParaRPr lang="en-US" sz="1600" dirty="0">
              <a:solidFill>
                <a:schemeClr val="bg1"/>
              </a:solidFill>
              <a:ea typeface="+mn-lt"/>
              <a:cs typeface="+mn-lt"/>
            </a:endParaRPr>
          </a:p>
          <a:p>
            <a:pPr marL="285750" indent="-285750">
              <a:buFont typeface="Arial"/>
              <a:buChar char="•"/>
            </a:pPr>
            <a:r>
              <a:rPr lang="en-US" sz="1600" b="1" dirty="0">
                <a:solidFill>
                  <a:schemeClr val="bg1"/>
                </a:solidFill>
                <a:ea typeface="+mn-lt"/>
                <a:cs typeface="+mn-lt"/>
              </a:rPr>
              <a:t>Stationery</a:t>
            </a:r>
            <a:r>
              <a:rPr lang="en-US" sz="1600" dirty="0">
                <a:solidFill>
                  <a:schemeClr val="bg1"/>
                </a:solidFill>
                <a:ea typeface="+mn-lt"/>
                <a:cs typeface="+mn-lt"/>
              </a:rPr>
              <a:t> sales are seasonal, with sharp spikes in specific months, likely linked to academic or fiscal cycles. </a:t>
            </a:r>
          </a:p>
          <a:p>
            <a:pPr marL="285750" indent="-285750">
              <a:buFont typeface="Arial"/>
              <a:buChar char="•"/>
            </a:pPr>
            <a:endParaRPr lang="en-US" sz="1600" dirty="0">
              <a:solidFill>
                <a:schemeClr val="bg1"/>
              </a:solidFill>
              <a:ea typeface="+mn-lt"/>
              <a:cs typeface="+mn-lt"/>
            </a:endParaRPr>
          </a:p>
          <a:p>
            <a:pPr marL="285750" indent="-285750">
              <a:buFont typeface="Arial"/>
              <a:buChar char="•"/>
            </a:pPr>
            <a:r>
              <a:rPr lang="en-US" sz="1600" dirty="0">
                <a:solidFill>
                  <a:schemeClr val="bg1"/>
                </a:solidFill>
                <a:ea typeface="+mn-lt"/>
                <a:cs typeface="+mn-lt"/>
              </a:rPr>
              <a:t>Low movement in categories like Electronics, Decor, and Household indicates underutilized stock or low market demand.</a:t>
            </a:r>
          </a:p>
          <a:p>
            <a:pPr marL="285750" indent="-285750">
              <a:buFont typeface="Arial"/>
              <a:buChar char="•"/>
            </a:pPr>
            <a:endParaRPr lang="en-US" sz="1600" dirty="0">
              <a:solidFill>
                <a:schemeClr val="bg1"/>
              </a:solidFill>
              <a:ea typeface="+mn-lt"/>
              <a:cs typeface="+mn-lt"/>
            </a:endParaRPr>
          </a:p>
          <a:p>
            <a:pPr marL="285750" indent="-285750">
              <a:buFont typeface="Arial"/>
              <a:buChar char="•"/>
            </a:pPr>
            <a:r>
              <a:rPr lang="en-US" sz="1600" dirty="0">
                <a:solidFill>
                  <a:schemeClr val="bg1"/>
                </a:solidFill>
                <a:ea typeface="+mn-lt"/>
                <a:cs typeface="+mn-lt"/>
              </a:rPr>
              <a:t>Closing stock value is concentrated in a few items like Printed Visiting Cards and Duplex Board account for the majority.</a:t>
            </a:r>
            <a:r>
              <a:rPr lang="en-GB" sz="1600" dirty="0">
                <a:solidFill>
                  <a:schemeClr val="bg1"/>
                </a:solidFill>
                <a:ea typeface="+mn-lt"/>
                <a:cs typeface="+mn-lt"/>
              </a:rPr>
              <a:t>.</a:t>
            </a:r>
            <a:endParaRPr lang="en-GB" dirty="0">
              <a:solidFill>
                <a:schemeClr val="bg1"/>
              </a:solidFill>
              <a:ea typeface="+mn-lt"/>
              <a:cs typeface="+mn-lt"/>
            </a:endParaRPr>
          </a:p>
          <a:p>
            <a:pPr>
              <a:buFont typeface="Arial"/>
            </a:pPr>
            <a:endParaRPr lang="en-GB" sz="1600" dirty="0">
              <a:solidFill>
                <a:schemeClr val="bg1"/>
              </a:solidFill>
              <a:latin typeface="Calibri"/>
              <a:ea typeface="+mn-lt"/>
              <a:cs typeface="+mn-lt"/>
            </a:endParaRPr>
          </a:p>
          <a:p>
            <a:endParaRPr lang="en-GB" sz="1400" dirty="0">
              <a:solidFill>
                <a:srgbClr val="FFFFFF"/>
              </a:solidFill>
              <a:latin typeface="Calibri"/>
              <a:ea typeface="Calibri"/>
              <a:cs typeface="Calibri"/>
            </a:endParaRPr>
          </a:p>
        </p:txBody>
      </p:sp>
      <p:pic>
        <p:nvPicPr>
          <p:cNvPr id="2" name="Picture 1">
            <a:extLst>
              <a:ext uri="{FF2B5EF4-FFF2-40B4-BE49-F238E27FC236}">
                <a16:creationId xmlns:a16="http://schemas.microsoft.com/office/drawing/2014/main" id="{C0BE27C1-034B-4F7C-AD5E-A11EDC2E95DF}"/>
              </a:ext>
            </a:extLst>
          </p:cNvPr>
          <p:cNvPicPr>
            <a:picLocks noChangeAspect="1"/>
          </p:cNvPicPr>
          <p:nvPr/>
        </p:nvPicPr>
        <p:blipFill>
          <a:blip r:embed="rId3"/>
          <a:stretch>
            <a:fillRect/>
          </a:stretch>
        </p:blipFill>
        <p:spPr>
          <a:xfrm>
            <a:off x="5435030" y="972590"/>
            <a:ext cx="6691442" cy="2881901"/>
          </a:xfrm>
          <a:prstGeom prst="rect">
            <a:avLst/>
          </a:prstGeom>
        </p:spPr>
      </p:pic>
      <p:pic>
        <p:nvPicPr>
          <p:cNvPr id="4" name="Picture 3">
            <a:extLst>
              <a:ext uri="{FF2B5EF4-FFF2-40B4-BE49-F238E27FC236}">
                <a16:creationId xmlns:a16="http://schemas.microsoft.com/office/drawing/2014/main" id="{E9641DA1-2320-41E9-A1A9-53E0A7B11773}"/>
              </a:ext>
            </a:extLst>
          </p:cNvPr>
          <p:cNvPicPr>
            <a:picLocks noChangeAspect="1"/>
          </p:cNvPicPr>
          <p:nvPr/>
        </p:nvPicPr>
        <p:blipFill>
          <a:blip r:embed="rId4"/>
          <a:stretch>
            <a:fillRect/>
          </a:stretch>
        </p:blipFill>
        <p:spPr>
          <a:xfrm>
            <a:off x="5435030" y="3930273"/>
            <a:ext cx="6691442" cy="2799300"/>
          </a:xfrm>
          <a:prstGeom prst="rect">
            <a:avLst/>
          </a:prstGeom>
        </p:spPr>
      </p:pic>
    </p:spTree>
    <p:extLst>
      <p:ext uri="{BB962C8B-B14F-4D97-AF65-F5344CB8AC3E}">
        <p14:creationId xmlns:p14="http://schemas.microsoft.com/office/powerpoint/2010/main" val="2222837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53F689-2E51-BF4F-AE47-7CEB7CC4C52A}"/>
              </a:ext>
            </a:extLst>
          </p:cNvPr>
          <p:cNvSpPr>
            <a:spLocks noGrp="1"/>
          </p:cNvSpPr>
          <p:nvPr>
            <p:ph type="title"/>
          </p:nvPr>
        </p:nvSpPr>
        <p:spPr>
          <a:xfrm>
            <a:off x="971550" y="291759"/>
            <a:ext cx="9142246" cy="649939"/>
          </a:xfrm>
        </p:spPr>
        <p:txBody>
          <a:bodyPr rtlCol="0">
            <a:normAutofit/>
          </a:bodyPr>
          <a:lstStyle/>
          <a:p>
            <a:r>
              <a:rPr lang="en-GB" b="0" dirty="0">
                <a:latin typeface="Calibri"/>
                <a:ea typeface="Calibri"/>
                <a:cs typeface="Calibri"/>
              </a:rPr>
              <a:t>Key Findings – Market Competition</a:t>
            </a:r>
          </a:p>
        </p:txBody>
      </p:sp>
      <p:sp>
        <p:nvSpPr>
          <p:cNvPr id="7" name="Slide Number Placeholder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en-GB" smtClean="0"/>
              <a:pPr rtl="0"/>
              <a:t>8</a:t>
            </a:fld>
            <a:endParaRPr lang="en-GB" dirty="0"/>
          </a:p>
        </p:txBody>
      </p:sp>
      <p:sp>
        <p:nvSpPr>
          <p:cNvPr id="6" name="Footer Placeholder 5">
            <a:extLst>
              <a:ext uri="{FF2B5EF4-FFF2-40B4-BE49-F238E27FC236}">
                <a16:creationId xmlns:a16="http://schemas.microsoft.com/office/drawing/2014/main" id="{66F3960A-D260-8445-A153-0B674474CEBD}"/>
              </a:ext>
            </a:extLst>
          </p:cNvPr>
          <p:cNvSpPr>
            <a:spLocks noGrp="1"/>
          </p:cNvSpPr>
          <p:nvPr>
            <p:ph type="ftr" sz="quarter" idx="15"/>
          </p:nvPr>
        </p:nvSpPr>
        <p:spPr>
          <a:xfrm>
            <a:off x="1494790" y="6332220"/>
            <a:ext cx="1497330" cy="247651"/>
          </a:xfrm>
        </p:spPr>
        <p:txBody>
          <a:bodyPr rtlCol="0"/>
          <a:lstStyle/>
          <a:p>
            <a:r>
              <a:rPr lang="en-GB" dirty="0"/>
              <a:t>BDM Capstone Project</a:t>
            </a:r>
            <a:endParaRPr lang="en-US" dirty="0"/>
          </a:p>
        </p:txBody>
      </p:sp>
      <p:sp>
        <p:nvSpPr>
          <p:cNvPr id="8" name="Date Placeholder 3">
            <a:extLst>
              <a:ext uri="{FF2B5EF4-FFF2-40B4-BE49-F238E27FC236}">
                <a16:creationId xmlns:a16="http://schemas.microsoft.com/office/drawing/2014/main" id="{2DAD51F7-3210-479B-ADF0-963FBC7E32BD}"/>
              </a:ext>
            </a:extLst>
          </p:cNvPr>
          <p:cNvSpPr txBox="1">
            <a:spLocks/>
          </p:cNvSpPr>
          <p:nvPr/>
        </p:nvSpPr>
        <p:spPr>
          <a:xfrm>
            <a:off x="3009244" y="6332220"/>
            <a:ext cx="1313180" cy="247651"/>
          </a:xfrm>
          <a:prstGeom prst="rect">
            <a:avLst/>
          </a:prstGeom>
        </p:spPr>
        <p:txBody>
          <a:bodyPr vert="horz" lIns="0" tIns="0" rIns="0" bIns="0" rtlCol="0" anchor="t" anchorCtr="0"/>
          <a:lstStyle>
            <a:defPPr>
              <a:defRPr lang="en-US"/>
            </a:defPPr>
            <a:lvl1pPr marL="0" algn="l" defTabSz="914400" rtl="0" eaLnBrk="1" latinLnBrk="0" hangingPunct="1">
              <a:defRPr sz="1100" b="0" i="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July, 2025</a:t>
            </a:r>
            <a:endParaRPr lang="en-US" dirty="0"/>
          </a:p>
        </p:txBody>
      </p:sp>
      <p:sp>
        <p:nvSpPr>
          <p:cNvPr id="5" name="TextBox 4">
            <a:extLst>
              <a:ext uri="{FF2B5EF4-FFF2-40B4-BE49-F238E27FC236}">
                <a16:creationId xmlns:a16="http://schemas.microsoft.com/office/drawing/2014/main" id="{744F7232-1810-518D-342B-A89EA16B9A6C}"/>
              </a:ext>
            </a:extLst>
          </p:cNvPr>
          <p:cNvSpPr txBox="1"/>
          <p:nvPr/>
        </p:nvSpPr>
        <p:spPr>
          <a:xfrm>
            <a:off x="705669" y="2081094"/>
            <a:ext cx="5664309"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dirty="0">
                <a:solidFill>
                  <a:schemeClr val="bg1"/>
                </a:solidFill>
                <a:latin typeface="Calibri"/>
                <a:ea typeface="+mn-lt"/>
                <a:cs typeface="+mn-lt"/>
              </a:rPr>
              <a:t>Rama Traders alone contributes the highest revenue. However, this over-reliance poses a risk if the client shifts vendors or reduces orders.</a:t>
            </a:r>
            <a:endParaRPr lang="en-GB" sz="1600" dirty="0">
              <a:solidFill>
                <a:schemeClr val="bg1"/>
              </a:solidFill>
              <a:latin typeface="Calibri"/>
              <a:ea typeface="+mn-lt"/>
              <a:cs typeface="+mn-lt"/>
            </a:endParaRPr>
          </a:p>
          <a:p>
            <a:pPr marL="285750" indent="-285750">
              <a:buFont typeface="Arial"/>
              <a:buChar char="•"/>
            </a:pPr>
            <a:r>
              <a:rPr lang="en-US" sz="1600" dirty="0">
                <a:solidFill>
                  <a:schemeClr val="bg1"/>
                </a:solidFill>
                <a:latin typeface="Calibri"/>
                <a:ea typeface="+mn-lt"/>
                <a:cs typeface="+mn-lt"/>
              </a:rPr>
              <a:t>Top 3 clients (Rama Traders, Krishna Ultrasound, Ordnance Eq. Factory) account for the majority of business volume.</a:t>
            </a:r>
          </a:p>
          <a:p>
            <a:pPr marL="285750" indent="-285750">
              <a:buFont typeface="Arial"/>
              <a:buChar char="•"/>
            </a:pPr>
            <a:r>
              <a:rPr lang="en-US" sz="1600" dirty="0">
                <a:solidFill>
                  <a:schemeClr val="bg1"/>
                </a:solidFill>
                <a:latin typeface="Calibri"/>
                <a:ea typeface="+mn-lt"/>
                <a:cs typeface="+mn-lt"/>
              </a:rPr>
              <a:t>Most other clients contribute minimally, showing limited client base penetration. </a:t>
            </a:r>
          </a:p>
          <a:p>
            <a:pPr marL="285750" indent="-285750">
              <a:buFont typeface="Arial"/>
              <a:buChar char="•"/>
            </a:pPr>
            <a:r>
              <a:rPr lang="en-US" sz="1600" dirty="0">
                <a:solidFill>
                  <a:schemeClr val="bg1"/>
                </a:solidFill>
                <a:latin typeface="Calibri"/>
                <a:ea typeface="+mn-lt"/>
                <a:cs typeface="+mn-lt"/>
              </a:rPr>
              <a:t>Revenue distribution is highly skewed, making the business vulnerable if any key client stops ordering.</a:t>
            </a:r>
          </a:p>
          <a:p>
            <a:pPr marL="285750" indent="-285750">
              <a:buFont typeface="Arial"/>
              <a:buChar char="•"/>
            </a:pPr>
            <a:r>
              <a:rPr lang="en-US" sz="1600" dirty="0">
                <a:solidFill>
                  <a:schemeClr val="bg1"/>
                </a:solidFill>
                <a:latin typeface="Calibri"/>
                <a:ea typeface="+mn-lt"/>
                <a:cs typeface="+mn-lt"/>
              </a:rPr>
              <a:t>Lack of diversification in clientele highlights the need for stronger marketing and outreach to attract new customers.</a:t>
            </a:r>
            <a:endParaRPr lang="en-GB" sz="1600" dirty="0">
              <a:solidFill>
                <a:schemeClr val="bg1"/>
              </a:solidFill>
              <a:latin typeface="Calibri"/>
              <a:ea typeface="+mn-lt"/>
              <a:cs typeface="+mn-lt"/>
            </a:endParaRPr>
          </a:p>
          <a:p>
            <a:pPr marL="285750" indent="-285750">
              <a:buFont typeface="Arial"/>
              <a:buChar char="•"/>
            </a:pPr>
            <a:r>
              <a:rPr lang="en-US" sz="1600" dirty="0">
                <a:solidFill>
                  <a:schemeClr val="bg1"/>
                </a:solidFill>
                <a:latin typeface="Calibri"/>
                <a:ea typeface="+mn-lt"/>
                <a:cs typeface="+mn-lt"/>
              </a:rPr>
              <a:t>Due to established relationships, consistent high-volume orders, or possibly exclusive pricing/service terms, Rama Traders has become a preferred buyer.</a:t>
            </a:r>
            <a:endParaRPr lang="en-GB" sz="1600" dirty="0">
              <a:solidFill>
                <a:schemeClr val="bg1"/>
              </a:solidFill>
              <a:latin typeface="Calibri"/>
              <a:ea typeface="+mn-lt"/>
              <a:cs typeface="+mn-lt"/>
            </a:endParaRPr>
          </a:p>
          <a:p>
            <a:endParaRPr lang="en-GB" sz="1600" dirty="0">
              <a:solidFill>
                <a:srgbClr val="FFFFFF"/>
              </a:solidFill>
              <a:latin typeface="Calibri"/>
              <a:ea typeface="Calibri"/>
              <a:cs typeface="Calibri"/>
            </a:endParaRPr>
          </a:p>
        </p:txBody>
      </p:sp>
      <p:pic>
        <p:nvPicPr>
          <p:cNvPr id="10" name="Picture 9">
            <a:extLst>
              <a:ext uri="{FF2B5EF4-FFF2-40B4-BE49-F238E27FC236}">
                <a16:creationId xmlns:a16="http://schemas.microsoft.com/office/drawing/2014/main" id="{5F678191-0A2E-47A8-8E45-8AFEE2213137}"/>
              </a:ext>
            </a:extLst>
          </p:cNvPr>
          <p:cNvPicPr>
            <a:picLocks noChangeAspect="1"/>
          </p:cNvPicPr>
          <p:nvPr/>
        </p:nvPicPr>
        <p:blipFill>
          <a:blip r:embed="rId3"/>
          <a:stretch>
            <a:fillRect/>
          </a:stretch>
        </p:blipFill>
        <p:spPr>
          <a:xfrm>
            <a:off x="6626831" y="1214128"/>
            <a:ext cx="5465852" cy="5027143"/>
          </a:xfrm>
          <a:prstGeom prst="rect">
            <a:avLst/>
          </a:prstGeom>
          <a:ln>
            <a:solidFill>
              <a:schemeClr val="bg1"/>
            </a:solidFill>
          </a:ln>
        </p:spPr>
      </p:pic>
    </p:spTree>
    <p:extLst>
      <p:ext uri="{BB962C8B-B14F-4D97-AF65-F5344CB8AC3E}">
        <p14:creationId xmlns:p14="http://schemas.microsoft.com/office/powerpoint/2010/main" val="5495306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53F689-2E51-BF4F-AE47-7CEB7CC4C52A}"/>
              </a:ext>
            </a:extLst>
          </p:cNvPr>
          <p:cNvSpPr>
            <a:spLocks noGrp="1"/>
          </p:cNvSpPr>
          <p:nvPr>
            <p:ph type="title"/>
          </p:nvPr>
        </p:nvSpPr>
        <p:spPr>
          <a:xfrm>
            <a:off x="971550" y="273553"/>
            <a:ext cx="9142246" cy="649939"/>
          </a:xfrm>
        </p:spPr>
        <p:txBody>
          <a:bodyPr rtlCol="0">
            <a:normAutofit/>
          </a:bodyPr>
          <a:lstStyle/>
          <a:p>
            <a:r>
              <a:rPr lang="en-GB" b="0" dirty="0">
                <a:latin typeface="Calibri"/>
                <a:ea typeface="Calibri"/>
                <a:cs typeface="Calibri"/>
              </a:rPr>
              <a:t>Key Findings – Cash Flow Challenges </a:t>
            </a:r>
          </a:p>
        </p:txBody>
      </p:sp>
      <p:sp>
        <p:nvSpPr>
          <p:cNvPr id="7" name="Slide Number Placeholder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fld id="{294A09A9-5501-47C1-A89A-A340965A2BE2}" type="slidenum">
              <a:rPr lang="en-GB" smtClean="0"/>
              <a:pPr rtl="0"/>
              <a:t>9</a:t>
            </a:fld>
            <a:endParaRPr lang="en-GB" dirty="0"/>
          </a:p>
        </p:txBody>
      </p:sp>
      <p:sp>
        <p:nvSpPr>
          <p:cNvPr id="6" name="Footer Placeholder 5">
            <a:extLst>
              <a:ext uri="{FF2B5EF4-FFF2-40B4-BE49-F238E27FC236}">
                <a16:creationId xmlns:a16="http://schemas.microsoft.com/office/drawing/2014/main" id="{66F3960A-D260-8445-A153-0B674474CEBD}"/>
              </a:ext>
            </a:extLst>
          </p:cNvPr>
          <p:cNvSpPr>
            <a:spLocks noGrp="1"/>
          </p:cNvSpPr>
          <p:nvPr>
            <p:ph type="ftr" sz="quarter" idx="15"/>
          </p:nvPr>
        </p:nvSpPr>
        <p:spPr>
          <a:xfrm>
            <a:off x="1494790" y="6332220"/>
            <a:ext cx="1497330" cy="247651"/>
          </a:xfrm>
        </p:spPr>
        <p:txBody>
          <a:bodyPr rtlCol="0"/>
          <a:lstStyle/>
          <a:p>
            <a:r>
              <a:rPr lang="en-GB" dirty="0"/>
              <a:t>BDM Capstone Project</a:t>
            </a:r>
            <a:endParaRPr lang="en-US" dirty="0"/>
          </a:p>
        </p:txBody>
      </p:sp>
      <p:sp>
        <p:nvSpPr>
          <p:cNvPr id="8" name="Date Placeholder 3">
            <a:extLst>
              <a:ext uri="{FF2B5EF4-FFF2-40B4-BE49-F238E27FC236}">
                <a16:creationId xmlns:a16="http://schemas.microsoft.com/office/drawing/2014/main" id="{2DAD51F7-3210-479B-ADF0-963FBC7E32BD}"/>
              </a:ext>
            </a:extLst>
          </p:cNvPr>
          <p:cNvSpPr txBox="1">
            <a:spLocks/>
          </p:cNvSpPr>
          <p:nvPr/>
        </p:nvSpPr>
        <p:spPr>
          <a:xfrm>
            <a:off x="3009244" y="6332220"/>
            <a:ext cx="1313180" cy="247651"/>
          </a:xfrm>
          <a:prstGeom prst="rect">
            <a:avLst/>
          </a:prstGeom>
        </p:spPr>
        <p:txBody>
          <a:bodyPr vert="horz" lIns="0" tIns="0" rIns="0" bIns="0" rtlCol="0" anchor="t" anchorCtr="0"/>
          <a:lstStyle>
            <a:defPPr>
              <a:defRPr lang="en-US"/>
            </a:defPPr>
            <a:lvl1pPr marL="0" algn="l" defTabSz="914400" rtl="0" eaLnBrk="1" latinLnBrk="0" hangingPunct="1">
              <a:defRPr sz="1100" b="0" i="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July, 2025</a:t>
            </a:r>
            <a:endParaRPr lang="en-US" dirty="0"/>
          </a:p>
        </p:txBody>
      </p:sp>
      <p:sp>
        <p:nvSpPr>
          <p:cNvPr id="5" name="TextBox 4">
            <a:extLst>
              <a:ext uri="{FF2B5EF4-FFF2-40B4-BE49-F238E27FC236}">
                <a16:creationId xmlns:a16="http://schemas.microsoft.com/office/drawing/2014/main" id="{744F7232-1810-518D-342B-A89EA16B9A6C}"/>
              </a:ext>
            </a:extLst>
          </p:cNvPr>
          <p:cNvSpPr txBox="1"/>
          <p:nvPr/>
        </p:nvSpPr>
        <p:spPr>
          <a:xfrm>
            <a:off x="870055" y="1954711"/>
            <a:ext cx="5225945"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dirty="0">
                <a:solidFill>
                  <a:schemeClr val="bg1"/>
                </a:solidFill>
                <a:latin typeface="Calibri"/>
                <a:ea typeface="+mn-lt"/>
                <a:cs typeface="+mn-lt"/>
              </a:rPr>
              <a:t>Revenue is highly volatile, with sharp peaks in months like June and September, followed by sudden drops. June 2024 saw an exceptional spike, indicating dependence on bulk or seasonal government orders.</a:t>
            </a:r>
          </a:p>
          <a:p>
            <a:pPr marL="285750" indent="-285750">
              <a:buFont typeface="Arial"/>
              <a:buChar char="•"/>
            </a:pPr>
            <a:endParaRPr lang="en-US" sz="1600" dirty="0">
              <a:solidFill>
                <a:schemeClr val="bg1"/>
              </a:solidFill>
              <a:latin typeface="Calibri"/>
              <a:ea typeface="+mn-lt"/>
              <a:cs typeface="+mn-lt"/>
            </a:endParaRPr>
          </a:p>
          <a:p>
            <a:pPr marL="285750" indent="-285750">
              <a:buFont typeface="Arial"/>
              <a:buChar char="•"/>
            </a:pPr>
            <a:r>
              <a:rPr lang="en-US" sz="1600" dirty="0">
                <a:solidFill>
                  <a:schemeClr val="bg1"/>
                </a:solidFill>
                <a:latin typeface="Calibri"/>
                <a:ea typeface="+mn-lt"/>
                <a:cs typeface="+mn-lt"/>
              </a:rPr>
              <a:t>Inconsistent monthly revenue creates planning challenges and strains liquidity in low-income periods.</a:t>
            </a:r>
          </a:p>
          <a:p>
            <a:pPr marL="285750" indent="-285750">
              <a:buFont typeface="Arial"/>
              <a:buChar char="•"/>
            </a:pPr>
            <a:endParaRPr lang="en-US" sz="1600" dirty="0">
              <a:solidFill>
                <a:schemeClr val="bg1"/>
              </a:solidFill>
              <a:latin typeface="Calibri"/>
              <a:ea typeface="+mn-lt"/>
              <a:cs typeface="+mn-lt"/>
            </a:endParaRPr>
          </a:p>
          <a:p>
            <a:pPr marL="285750" indent="-285750">
              <a:buFont typeface="Arial"/>
              <a:buChar char="•"/>
            </a:pPr>
            <a:r>
              <a:rPr lang="en-US" sz="1600" dirty="0">
                <a:solidFill>
                  <a:schemeClr val="bg1"/>
                </a:solidFill>
                <a:latin typeface="Calibri"/>
                <a:ea typeface="+mn-lt"/>
                <a:cs typeface="+mn-lt"/>
              </a:rPr>
              <a:t>Forecasting (ETS model) shows a potential for steady growth but with moderate-to-high volatility. </a:t>
            </a:r>
          </a:p>
          <a:p>
            <a:pPr marL="285750" indent="-285750">
              <a:buFont typeface="Arial"/>
              <a:buChar char="•"/>
            </a:pPr>
            <a:endParaRPr lang="en-US" sz="1600" dirty="0">
              <a:solidFill>
                <a:schemeClr val="bg1"/>
              </a:solidFill>
              <a:latin typeface="Calibri"/>
              <a:ea typeface="+mn-lt"/>
              <a:cs typeface="+mn-lt"/>
            </a:endParaRPr>
          </a:p>
          <a:p>
            <a:pPr marL="285750" indent="-285750">
              <a:buFont typeface="Arial"/>
              <a:buChar char="•"/>
            </a:pPr>
            <a:r>
              <a:rPr lang="en-US" sz="1600" dirty="0">
                <a:solidFill>
                  <a:schemeClr val="bg1"/>
                </a:solidFill>
                <a:latin typeface="Calibri"/>
                <a:ea typeface="+mn-lt"/>
                <a:cs typeface="+mn-lt"/>
              </a:rPr>
              <a:t>Confidence bounds reveal risk, suggesting that without better planning, future cash flow could fluctuate significantly.</a:t>
            </a:r>
            <a:endParaRPr lang="en-GB" sz="1600" dirty="0">
              <a:solidFill>
                <a:schemeClr val="bg1"/>
              </a:solidFill>
              <a:latin typeface="Calibri"/>
              <a:ea typeface="+mn-lt"/>
              <a:cs typeface="+mn-lt"/>
            </a:endParaRPr>
          </a:p>
          <a:p>
            <a:endParaRPr lang="en-GB" sz="1600" dirty="0">
              <a:solidFill>
                <a:srgbClr val="FFFFFF"/>
              </a:solidFill>
              <a:latin typeface="Calibri"/>
              <a:ea typeface="Calibri"/>
              <a:cs typeface="Calibri"/>
            </a:endParaRPr>
          </a:p>
        </p:txBody>
      </p:sp>
      <p:pic>
        <p:nvPicPr>
          <p:cNvPr id="2" name="Picture 1">
            <a:extLst>
              <a:ext uri="{FF2B5EF4-FFF2-40B4-BE49-F238E27FC236}">
                <a16:creationId xmlns:a16="http://schemas.microsoft.com/office/drawing/2014/main" id="{F0989E76-14DB-4D6F-AE83-7AD67B44E44E}"/>
              </a:ext>
            </a:extLst>
          </p:cNvPr>
          <p:cNvPicPr>
            <a:picLocks noChangeAspect="1"/>
          </p:cNvPicPr>
          <p:nvPr/>
        </p:nvPicPr>
        <p:blipFill>
          <a:blip r:embed="rId3"/>
          <a:stretch>
            <a:fillRect/>
          </a:stretch>
        </p:blipFill>
        <p:spPr>
          <a:xfrm>
            <a:off x="6431623" y="1068512"/>
            <a:ext cx="5548046" cy="2804845"/>
          </a:xfrm>
          <a:prstGeom prst="rect">
            <a:avLst/>
          </a:prstGeom>
        </p:spPr>
      </p:pic>
      <p:pic>
        <p:nvPicPr>
          <p:cNvPr id="4" name="Picture 3">
            <a:extLst>
              <a:ext uri="{FF2B5EF4-FFF2-40B4-BE49-F238E27FC236}">
                <a16:creationId xmlns:a16="http://schemas.microsoft.com/office/drawing/2014/main" id="{CC6D60BC-0A8A-456D-AB5C-058EEF40EC6C}"/>
              </a:ext>
            </a:extLst>
          </p:cNvPr>
          <p:cNvPicPr>
            <a:picLocks noChangeAspect="1"/>
          </p:cNvPicPr>
          <p:nvPr/>
        </p:nvPicPr>
        <p:blipFill>
          <a:blip r:embed="rId4"/>
          <a:stretch>
            <a:fillRect/>
          </a:stretch>
        </p:blipFill>
        <p:spPr>
          <a:xfrm>
            <a:off x="6441897" y="3780890"/>
            <a:ext cx="5548046" cy="2722651"/>
          </a:xfrm>
          <a:prstGeom prst="rect">
            <a:avLst/>
          </a:prstGeom>
        </p:spPr>
      </p:pic>
    </p:spTree>
    <p:extLst>
      <p:ext uri="{BB962C8B-B14F-4D97-AF65-F5344CB8AC3E}">
        <p14:creationId xmlns:p14="http://schemas.microsoft.com/office/powerpoint/2010/main" val="3511838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53F689-2E51-BF4F-AE47-7CEB7CC4C52A}"/>
              </a:ext>
            </a:extLst>
          </p:cNvPr>
          <p:cNvSpPr>
            <a:spLocks noGrp="1"/>
          </p:cNvSpPr>
          <p:nvPr>
            <p:ph type="title"/>
          </p:nvPr>
        </p:nvSpPr>
        <p:spPr/>
        <p:txBody>
          <a:bodyPr rtlCol="0"/>
          <a:lstStyle/>
          <a:p>
            <a:r>
              <a:rPr lang="en-GB" b="0" dirty="0">
                <a:latin typeface="Calibri"/>
                <a:ea typeface="Calibri"/>
                <a:cs typeface="Calibri"/>
              </a:rPr>
              <a:t>Recommendations</a:t>
            </a:r>
            <a:endParaRPr lang="en-US" dirty="0"/>
          </a:p>
        </p:txBody>
      </p:sp>
      <p:sp>
        <p:nvSpPr>
          <p:cNvPr id="4" name="Text Placeholder 3">
            <a:extLst>
              <a:ext uri="{FF2B5EF4-FFF2-40B4-BE49-F238E27FC236}">
                <a16:creationId xmlns:a16="http://schemas.microsoft.com/office/drawing/2014/main" id="{A17F80A9-6337-524E-AC61-32C5AFEE8E6D}"/>
              </a:ext>
            </a:extLst>
          </p:cNvPr>
          <p:cNvSpPr>
            <a:spLocks noGrp="1"/>
          </p:cNvSpPr>
          <p:nvPr>
            <p:ph type="body" sz="quarter" idx="11"/>
          </p:nvPr>
        </p:nvSpPr>
        <p:spPr>
          <a:xfrm>
            <a:off x="961060" y="2116476"/>
            <a:ext cx="10505327" cy="3394479"/>
          </a:xfrm>
        </p:spPr>
        <p:txBody>
          <a:bodyPr vert="horz" lIns="0" tIns="0" rIns="0" bIns="0" rtlCol="0" anchor="t">
            <a:noAutofit/>
          </a:bodyPr>
          <a:lstStyle/>
          <a:p>
            <a:pPr marL="285750" indent="-285750">
              <a:buChar char="•"/>
            </a:pPr>
            <a:r>
              <a:rPr lang="en-US" sz="1800" b="1" dirty="0">
                <a:ea typeface="Calibri" panose="020F0502020204030204" pitchFamily="34" charset="0"/>
                <a:cs typeface="Calibri" panose="020F0502020204030204" pitchFamily="34" charset="0"/>
              </a:rPr>
              <a:t>Operational Efficiency :</a:t>
            </a:r>
            <a:r>
              <a:rPr lang="en-US" sz="1800" dirty="0">
                <a:ea typeface="Calibri" panose="020F0502020204030204" pitchFamily="34" charset="0"/>
                <a:cs typeface="Calibri" panose="020F0502020204030204" pitchFamily="34" charset="0"/>
              </a:rPr>
              <a:t> Plan inventory using monthly demand trends and maintain optimal stock for fast-moving items. Use reorder points or basic inventory software and also negotiate better vendor terms to align with payment cycles.</a:t>
            </a:r>
          </a:p>
          <a:p>
            <a:pPr marL="285750" indent="-285750">
              <a:buChar char="•"/>
            </a:pPr>
            <a:r>
              <a:rPr lang="en-GB" sz="1800" b="1" dirty="0">
                <a:ea typeface="Calibri" panose="020F0502020204030204" pitchFamily="34" charset="0"/>
                <a:cs typeface="Calibri" panose="020F0502020204030204" pitchFamily="34" charset="0"/>
              </a:rPr>
              <a:t>Sales &amp; Market Expansion: </a:t>
            </a:r>
            <a:r>
              <a:rPr lang="en-GB" sz="1800" dirty="0">
                <a:ea typeface="Calibri" panose="020F0502020204030204" pitchFamily="34" charset="0"/>
                <a:cs typeface="Calibri" panose="020F0502020204030204" pitchFamily="34" charset="0"/>
              </a:rPr>
              <a:t>Promote low-selling items via combos or bundles. Expand product </a:t>
            </a:r>
            <a:r>
              <a:rPr lang="en-GB" sz="1800" dirty="0" err="1">
                <a:ea typeface="Calibri" panose="020F0502020204030204" pitchFamily="34" charset="0"/>
                <a:cs typeface="Calibri" panose="020F0502020204030204" pitchFamily="34" charset="0"/>
              </a:rPr>
              <a:t>catalog</a:t>
            </a:r>
            <a:r>
              <a:rPr lang="en-GB" sz="1800" dirty="0">
                <a:ea typeface="Calibri" panose="020F0502020204030204" pitchFamily="34" charset="0"/>
                <a:cs typeface="Calibri" panose="020F0502020204030204" pitchFamily="34" charset="0"/>
              </a:rPr>
              <a:t> with niche/customized options. Strengthen digital presence through WhatsApp, Google, or a basic website. Re-engage inactive clients with calls and simple </a:t>
            </a:r>
            <a:r>
              <a:rPr lang="en-GB" sz="1800" dirty="0" err="1">
                <a:ea typeface="Calibri" panose="020F0502020204030204" pitchFamily="34" charset="0"/>
                <a:cs typeface="Calibri" panose="020F0502020204030204" pitchFamily="34" charset="0"/>
              </a:rPr>
              <a:t>catalogs</a:t>
            </a:r>
            <a:r>
              <a:rPr lang="en-GB" sz="1800" dirty="0">
                <a:ea typeface="Calibri" panose="020F0502020204030204" pitchFamily="34" charset="0"/>
                <a:cs typeface="Calibri" panose="020F0502020204030204" pitchFamily="34" charset="0"/>
              </a:rPr>
              <a:t>.</a:t>
            </a:r>
          </a:p>
          <a:p>
            <a:pPr marL="285750" indent="-285750">
              <a:buChar char="•"/>
            </a:pPr>
            <a:r>
              <a:rPr lang="en-US" sz="1800" b="1" dirty="0">
                <a:ea typeface="Calibri" panose="020F0502020204030204" pitchFamily="34" charset="0"/>
                <a:cs typeface="Calibri" panose="020F0502020204030204" pitchFamily="34" charset="0"/>
              </a:rPr>
              <a:t>Financial &amp; Cash Flow Management: </a:t>
            </a:r>
            <a:r>
              <a:rPr lang="en-US" sz="1800" dirty="0">
                <a:ea typeface="Calibri" panose="020F0502020204030204" pitchFamily="34" charset="0"/>
                <a:cs typeface="Calibri" panose="020F0502020204030204" pitchFamily="34" charset="0"/>
              </a:rPr>
              <a:t>To strengthen financial stability, track monthly cash flow closely and allocate reserve funds regularly. Encourage faster payments by offering early payment discounts to private clients. Actively leverage the </a:t>
            </a:r>
            <a:r>
              <a:rPr lang="en-US" sz="1800" dirty="0" err="1">
                <a:ea typeface="Calibri" panose="020F0502020204030204" pitchFamily="34" charset="0"/>
                <a:cs typeface="Calibri" panose="020F0502020204030204" pitchFamily="34" charset="0"/>
              </a:rPr>
              <a:t>GeM</a:t>
            </a:r>
            <a:r>
              <a:rPr lang="en-US" sz="1800" dirty="0">
                <a:ea typeface="Calibri" panose="020F0502020204030204" pitchFamily="34" charset="0"/>
                <a:cs typeface="Calibri" panose="020F0502020204030204" pitchFamily="34" charset="0"/>
              </a:rPr>
              <a:t> portal to secure more government tenders. Simultaneously, expand the client base by targeting new private entities such as clinics, schools, and startups, ensuring a balanced and diversified revenue stream.</a:t>
            </a:r>
            <a:r>
              <a:rPr lang="en-US" sz="1800" b="1" dirty="0">
                <a:ea typeface="Calibri" panose="020F0502020204030204" pitchFamily="34" charset="0"/>
                <a:cs typeface="Calibri" panose="020F0502020204030204" pitchFamily="34" charset="0"/>
              </a:rPr>
              <a:t>.</a:t>
            </a:r>
            <a:endParaRPr lang="en-GB" sz="1800" dirty="0">
              <a:ea typeface="Calibri" panose="020F0502020204030204" pitchFamily="34" charset="0"/>
              <a:cs typeface="Calibri" panose="020F0502020204030204" pitchFamily="34" charset="0"/>
            </a:endParaRPr>
          </a:p>
          <a:p>
            <a:endParaRPr lang="en-GB" dirty="0">
              <a:latin typeface="Calibri"/>
              <a:ea typeface="Calibri"/>
              <a:cs typeface="Calibri"/>
            </a:endParaRPr>
          </a:p>
          <a:p>
            <a:endParaRPr lang="en-US" dirty="0">
              <a:latin typeface="Calibri"/>
              <a:ea typeface="Calibri"/>
              <a:cs typeface="Calibri"/>
            </a:endParaRPr>
          </a:p>
          <a:p>
            <a:endParaRPr lang="en-GB" dirty="0">
              <a:latin typeface="Calibri"/>
              <a:ea typeface="Calibri"/>
              <a:cs typeface="Calibri"/>
            </a:endParaRPr>
          </a:p>
          <a:p>
            <a:pPr rtl="0"/>
            <a:endParaRPr lang="en-GB" dirty="0">
              <a:latin typeface="Calibri"/>
              <a:ea typeface="Calibri"/>
              <a:cs typeface="Calibri"/>
            </a:endParaRPr>
          </a:p>
        </p:txBody>
      </p:sp>
      <p:sp>
        <p:nvSpPr>
          <p:cNvPr id="7" name="Slide Number Placeholder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rtlCol="0"/>
          <a:lstStyle/>
          <a:p>
            <a:pPr rtl="0"/>
            <a:r>
              <a:rPr lang="en-GB" dirty="0"/>
              <a:t>10</a:t>
            </a:r>
          </a:p>
        </p:txBody>
      </p:sp>
      <p:sp>
        <p:nvSpPr>
          <p:cNvPr id="6" name="Footer Placeholder 5">
            <a:extLst>
              <a:ext uri="{FF2B5EF4-FFF2-40B4-BE49-F238E27FC236}">
                <a16:creationId xmlns:a16="http://schemas.microsoft.com/office/drawing/2014/main" id="{66F3960A-D260-8445-A153-0B674474CEBD}"/>
              </a:ext>
            </a:extLst>
          </p:cNvPr>
          <p:cNvSpPr>
            <a:spLocks noGrp="1"/>
          </p:cNvSpPr>
          <p:nvPr>
            <p:ph type="ftr" sz="quarter" idx="15"/>
          </p:nvPr>
        </p:nvSpPr>
        <p:spPr>
          <a:xfrm>
            <a:off x="1494790" y="6332220"/>
            <a:ext cx="1497330" cy="247651"/>
          </a:xfrm>
        </p:spPr>
        <p:txBody>
          <a:bodyPr rtlCol="0"/>
          <a:lstStyle/>
          <a:p>
            <a:r>
              <a:rPr lang="en-GB" dirty="0"/>
              <a:t>BDM Capstone Project</a:t>
            </a:r>
            <a:endParaRPr lang="en-US" dirty="0"/>
          </a:p>
        </p:txBody>
      </p:sp>
      <p:sp>
        <p:nvSpPr>
          <p:cNvPr id="8" name="Date Placeholder 3">
            <a:extLst>
              <a:ext uri="{FF2B5EF4-FFF2-40B4-BE49-F238E27FC236}">
                <a16:creationId xmlns:a16="http://schemas.microsoft.com/office/drawing/2014/main" id="{2DAD51F7-3210-479B-ADF0-963FBC7E32BD}"/>
              </a:ext>
            </a:extLst>
          </p:cNvPr>
          <p:cNvSpPr txBox="1">
            <a:spLocks/>
          </p:cNvSpPr>
          <p:nvPr/>
        </p:nvSpPr>
        <p:spPr>
          <a:xfrm>
            <a:off x="3009244" y="6332220"/>
            <a:ext cx="1313180" cy="247651"/>
          </a:xfrm>
          <a:prstGeom prst="rect">
            <a:avLst/>
          </a:prstGeom>
        </p:spPr>
        <p:txBody>
          <a:bodyPr vert="horz" lIns="0" tIns="0" rIns="0" bIns="0" rtlCol="0" anchor="t" anchorCtr="0"/>
          <a:lstStyle>
            <a:defPPr>
              <a:defRPr lang="en-US"/>
            </a:defPPr>
            <a:lvl1pPr marL="0" algn="l" defTabSz="914400" rtl="0" eaLnBrk="1" latinLnBrk="0" hangingPunct="1">
              <a:defRPr sz="1100" b="0" i="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July, 2025</a:t>
            </a:r>
            <a:endParaRPr lang="en-US" dirty="0"/>
          </a:p>
        </p:txBody>
      </p:sp>
      <p:grpSp>
        <p:nvGrpSpPr>
          <p:cNvPr id="9" name="Group 26">
            <a:extLst>
              <a:ext uri="{FF2B5EF4-FFF2-40B4-BE49-F238E27FC236}">
                <a16:creationId xmlns:a16="http://schemas.microsoft.com/office/drawing/2014/main" id="{C4C06FC7-FE67-42F8-B4F5-B15BD3AECBA0}"/>
              </a:ext>
            </a:extLst>
          </p:cNvPr>
          <p:cNvGrpSpPr/>
          <p:nvPr/>
        </p:nvGrpSpPr>
        <p:grpSpPr>
          <a:xfrm>
            <a:off x="4448710" y="5510955"/>
            <a:ext cx="3572097" cy="1102225"/>
            <a:chOff x="0" y="0"/>
            <a:chExt cx="1019807" cy="322116"/>
          </a:xfrm>
        </p:grpSpPr>
        <p:sp>
          <p:nvSpPr>
            <p:cNvPr id="10" name="Freeform 27">
              <a:extLst>
                <a:ext uri="{FF2B5EF4-FFF2-40B4-BE49-F238E27FC236}">
                  <a16:creationId xmlns:a16="http://schemas.microsoft.com/office/drawing/2014/main" id="{F7F278CA-FCC7-4A9D-BC71-1A993C89D6E3}"/>
                </a:ext>
              </a:extLst>
            </p:cNvPr>
            <p:cNvSpPr/>
            <p:nvPr/>
          </p:nvSpPr>
          <p:spPr>
            <a:xfrm>
              <a:off x="0" y="0"/>
              <a:ext cx="1019807" cy="322116"/>
            </a:xfrm>
            <a:custGeom>
              <a:avLst/>
              <a:gdLst/>
              <a:ahLst/>
              <a:cxnLst/>
              <a:rect l="l" t="t" r="r" b="b"/>
              <a:pathLst>
                <a:path w="1019807" h="322116">
                  <a:moveTo>
                    <a:pt x="101970" y="0"/>
                  </a:moveTo>
                  <a:lnTo>
                    <a:pt x="917837" y="0"/>
                  </a:lnTo>
                  <a:cubicBezTo>
                    <a:pt x="944881" y="0"/>
                    <a:pt x="970818" y="10743"/>
                    <a:pt x="989941" y="29866"/>
                  </a:cubicBezTo>
                  <a:cubicBezTo>
                    <a:pt x="1009064" y="48990"/>
                    <a:pt x="1019807" y="74926"/>
                    <a:pt x="1019807" y="101970"/>
                  </a:cubicBezTo>
                  <a:lnTo>
                    <a:pt x="1019807" y="220146"/>
                  </a:lnTo>
                  <a:cubicBezTo>
                    <a:pt x="1019807" y="247190"/>
                    <a:pt x="1009064" y="273126"/>
                    <a:pt x="989941" y="292250"/>
                  </a:cubicBezTo>
                  <a:cubicBezTo>
                    <a:pt x="970818" y="311373"/>
                    <a:pt x="944881" y="322116"/>
                    <a:pt x="917837" y="322116"/>
                  </a:cubicBezTo>
                  <a:lnTo>
                    <a:pt x="101970" y="322116"/>
                  </a:lnTo>
                  <a:cubicBezTo>
                    <a:pt x="74926" y="322116"/>
                    <a:pt x="48990" y="311373"/>
                    <a:pt x="29866" y="292250"/>
                  </a:cubicBezTo>
                  <a:cubicBezTo>
                    <a:pt x="10743" y="273126"/>
                    <a:pt x="0" y="247190"/>
                    <a:pt x="0" y="220146"/>
                  </a:cubicBezTo>
                  <a:lnTo>
                    <a:pt x="0" y="101970"/>
                  </a:lnTo>
                  <a:cubicBezTo>
                    <a:pt x="0" y="74926"/>
                    <a:pt x="10743" y="48990"/>
                    <a:pt x="29866" y="29866"/>
                  </a:cubicBezTo>
                  <a:cubicBezTo>
                    <a:pt x="48990" y="10743"/>
                    <a:pt x="74926" y="0"/>
                    <a:pt x="101970" y="0"/>
                  </a:cubicBezTo>
                  <a:close/>
                </a:path>
              </a:pathLst>
            </a:custGeom>
            <a:solidFill>
              <a:srgbClr val="F9D448"/>
            </a:solidFill>
          </p:spPr>
        </p:sp>
        <p:sp>
          <p:nvSpPr>
            <p:cNvPr id="11" name="TextBox 28">
              <a:extLst>
                <a:ext uri="{FF2B5EF4-FFF2-40B4-BE49-F238E27FC236}">
                  <a16:creationId xmlns:a16="http://schemas.microsoft.com/office/drawing/2014/main" id="{3E0C5AEA-9159-4855-8F6B-AFB98D852C20}"/>
                </a:ext>
              </a:extLst>
            </p:cNvPr>
            <p:cNvSpPr txBox="1"/>
            <p:nvPr/>
          </p:nvSpPr>
          <p:spPr>
            <a:xfrm>
              <a:off x="0" y="-38100"/>
              <a:ext cx="1019807" cy="360216"/>
            </a:xfrm>
            <a:prstGeom prst="rect">
              <a:avLst/>
            </a:prstGeom>
          </p:spPr>
          <p:txBody>
            <a:bodyPr lIns="50800" tIns="50800" rIns="50800" bIns="50800" rtlCol="0" anchor="ctr"/>
            <a:lstStyle/>
            <a:p>
              <a:pPr algn="ctr">
                <a:lnSpc>
                  <a:spcPts val="2659"/>
                </a:lnSpc>
              </a:pPr>
              <a:endParaRPr dirty="0"/>
            </a:p>
          </p:txBody>
        </p:sp>
      </p:grpSp>
      <p:sp>
        <p:nvSpPr>
          <p:cNvPr id="2" name="TextBox 1">
            <a:extLst>
              <a:ext uri="{FF2B5EF4-FFF2-40B4-BE49-F238E27FC236}">
                <a16:creationId xmlns:a16="http://schemas.microsoft.com/office/drawing/2014/main" id="{565DA9EC-4FFD-4116-92EC-D890AD2F2295}"/>
              </a:ext>
            </a:extLst>
          </p:cNvPr>
          <p:cNvSpPr txBox="1"/>
          <p:nvPr/>
        </p:nvSpPr>
        <p:spPr>
          <a:xfrm>
            <a:off x="4821888" y="5698549"/>
            <a:ext cx="3387163" cy="1102225"/>
          </a:xfrm>
          <a:prstGeom prst="rect">
            <a:avLst/>
          </a:prstGeom>
          <a:noFill/>
        </p:spPr>
        <p:txBody>
          <a:bodyPr wrap="square" rtlCol="0">
            <a:spAutoFit/>
          </a:bodyPr>
          <a:lstStyle/>
          <a:p>
            <a:pPr algn="just">
              <a:lnSpc>
                <a:spcPts val="7279"/>
              </a:lnSpc>
            </a:pPr>
            <a:r>
              <a:rPr lang="en-US" sz="8000" dirty="0">
                <a:solidFill>
                  <a:srgbClr val="100F0D"/>
                </a:solidFill>
                <a:latin typeface="Freestyle Script" panose="030804020302050B0404" pitchFamily="66" charset="0"/>
              </a:rPr>
              <a:t>Thank you</a:t>
            </a:r>
          </a:p>
        </p:txBody>
      </p:sp>
      <p:pic>
        <p:nvPicPr>
          <p:cNvPr id="12" name="Picture 11">
            <a:extLst>
              <a:ext uri="{FF2B5EF4-FFF2-40B4-BE49-F238E27FC236}">
                <a16:creationId xmlns:a16="http://schemas.microsoft.com/office/drawing/2014/main" id="{A7C76B33-E824-475D-AE49-07E4748D5A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09027" y="5843995"/>
            <a:ext cx="2267266" cy="362001"/>
          </a:xfrm>
          <a:prstGeom prst="rect">
            <a:avLst/>
          </a:prstGeom>
        </p:spPr>
      </p:pic>
      <p:sp>
        <p:nvSpPr>
          <p:cNvPr id="13" name="TextBox 12">
            <a:extLst>
              <a:ext uri="{FF2B5EF4-FFF2-40B4-BE49-F238E27FC236}">
                <a16:creationId xmlns:a16="http://schemas.microsoft.com/office/drawing/2014/main" id="{E4D7BE55-FC9D-42F2-9389-09CF684CE6E2}"/>
              </a:ext>
            </a:extLst>
          </p:cNvPr>
          <p:cNvSpPr txBox="1"/>
          <p:nvPr/>
        </p:nvSpPr>
        <p:spPr>
          <a:xfrm>
            <a:off x="8650840" y="6205996"/>
            <a:ext cx="3387163" cy="738664"/>
          </a:xfrm>
          <a:prstGeom prst="rect">
            <a:avLst/>
          </a:prstGeom>
          <a:noFill/>
        </p:spPr>
        <p:txBody>
          <a:bodyPr wrap="square" rtlCol="0">
            <a:spAutoFit/>
          </a:bodyPr>
          <a:lstStyle/>
          <a:p>
            <a:r>
              <a:rPr lang="en-GB" sz="1200" dirty="0">
                <a:solidFill>
                  <a:schemeClr val="bg1"/>
                </a:solidFill>
              </a:rPr>
              <a:t>Thank you for your time and thank you for all the support throughout the project.</a:t>
            </a:r>
          </a:p>
          <a:p>
            <a:endParaRPr lang="en-IN" dirty="0"/>
          </a:p>
        </p:txBody>
      </p:sp>
    </p:spTree>
    <p:extLst>
      <p:ext uri="{BB962C8B-B14F-4D97-AF65-F5344CB8AC3E}">
        <p14:creationId xmlns:p14="http://schemas.microsoft.com/office/powerpoint/2010/main" val="1122197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 calcmode="lin" valueType="num">
                                      <p:cBhvr additive="base">
                                        <p:cTn id="14"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3">
                                            <p:txEl>
                                              <p:pRg st="0" end="0"/>
                                            </p:txEl>
                                          </p:spTgt>
                                        </p:tgtEl>
                                        <p:attrNameLst>
                                          <p:attrName>style.visibility</p:attrName>
                                        </p:attrNameLst>
                                      </p:cBhvr>
                                      <p:to>
                                        <p:strVal val="visible"/>
                                      </p:to>
                                    </p:set>
                                    <p:animEffect transition="in" filter="fade">
                                      <p:cBhvr>
                                        <p:cTn id="20"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heme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wissPresentation C_MW_JS_SL_v2" id="{50B954A5-DC84-41DE-87BB-B459A4E7EDA7}" vid="{75F44519-9FD6-49F7-AB9C-46D055682C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A3804F14-618B-48E0-A956-DD76B6099D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1446DA3-37A7-4516-A4F6-8B99D0D312BF}">
  <ds:schemaRefs>
    <ds:schemaRef ds:uri="http://schemas.microsoft.com/sharepoint/v3/contenttype/forms"/>
  </ds:schemaRefs>
</ds:datastoreItem>
</file>

<file path=customXml/itemProps3.xml><?xml version="1.0" encoding="utf-8"?>
<ds:datastoreItem xmlns:ds="http://schemas.openxmlformats.org/officeDocument/2006/customXml" ds:itemID="{6CC8E66C-AC30-44BA-8882-3290DF968F1F}">
  <ds:schemaRefs>
    <ds:schemaRef ds:uri="http://purl.org/dc/terms/"/>
    <ds:schemaRef ds:uri="http://schemas.openxmlformats.org/package/2006/metadata/core-properties"/>
    <ds:schemaRef ds:uri="http://purl.org/dc/dcmitype/"/>
    <ds:schemaRef ds:uri="16c05727-aa75-4e4a-9b5f-8a80a1165891"/>
    <ds:schemaRef ds:uri="71af3243-3dd4-4a8d-8c0d-dd76da1f02a5"/>
    <ds:schemaRef ds:uri="http://schemas.microsoft.com/office/infopath/2007/PartnerControls"/>
    <ds:schemaRef ds:uri="http://schemas.microsoft.com/office/2006/documentManagement/types"/>
    <ds:schemaRef ds:uri="http://schemas.microsoft.com/office/2006/metadata/propertie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TM78853419</Template>
  <TotalTime>640</TotalTime>
  <Words>1103</Words>
  <Application>Microsoft Office PowerPoint</Application>
  <PresentationFormat>Widescreen</PresentationFormat>
  <Paragraphs>102</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Franklin Gothic Book</vt:lpstr>
      <vt:lpstr>Franklin Gothic Demi</vt:lpstr>
      <vt:lpstr>Freestyle Script</vt:lpstr>
      <vt:lpstr>Wingdings</vt:lpstr>
      <vt:lpstr>Theme1</vt:lpstr>
      <vt:lpstr>ENHANCING OPERATIONAL EFFICIENCY AND PROFITABILITY THROUGH  RELIABLE SUPPLY SOLUTIONS FOR GOVERNMENT AND PRIVATE ENTITIES</vt:lpstr>
      <vt:lpstr>Contents</vt:lpstr>
      <vt:lpstr>About the Business</vt:lpstr>
      <vt:lpstr>Challenges faced</vt:lpstr>
      <vt:lpstr>Data Collection</vt:lpstr>
      <vt:lpstr>Analysis Process</vt:lpstr>
      <vt:lpstr>Key Findings – Supply Chain Management</vt:lpstr>
      <vt:lpstr>Key Findings – Market Competition</vt:lpstr>
      <vt:lpstr>Key Findings – Cash Flow Challenges </vt:lpstr>
      <vt:lpstr>Recommendations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Improving Performance through Customer Segmentation and Shipping Cost Optimization</dc:title>
  <dc:creator>Devansh Gupta</dc:creator>
  <cp:lastModifiedBy>Devanshh G</cp:lastModifiedBy>
  <cp:revision>376</cp:revision>
  <dcterms:created xsi:type="dcterms:W3CDTF">2024-11-26T17:43:30Z</dcterms:created>
  <dcterms:modified xsi:type="dcterms:W3CDTF">2026-06-03T20:15:13Z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